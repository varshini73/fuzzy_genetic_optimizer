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0275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080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37160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137160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0" y="137160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0" y="137160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137160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0" y="137160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008080">
              <a:alpha val="12000"/>
            </a:srgbClr>
          </a:solidFill>
          <a:ln w="12700">
            <a:solidFill>
              <a:srgbClr val="008080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-457200"/>
            <a:ext cx="3657600" cy="3657600"/>
          </a:xfrm>
          <a:prstGeom prst="ellipse">
            <a:avLst/>
          </a:prstGeom>
          <a:solidFill>
            <a:srgbClr val="02C39A">
              <a:alpha val="10000"/>
            </a:srgbClr>
          </a:solidFill>
          <a:ln w="12700">
            <a:solidFill>
              <a:srgbClr val="02C39A">
                <a:alpha val="1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347472"/>
            <a:ext cx="2560320" cy="320040"/>
          </a:xfrm>
          <a:prstGeom prst="rect">
            <a:avLst/>
          </a:prstGeom>
          <a:solidFill>
            <a:srgbClr val="008080"/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474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SOFT COMPUTING — PROJECT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11480" y="8686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FuzzyPriceAI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411480" y="18288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8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Fuzzy-Genetic Micro-Business Pricing Optimizer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11480" y="2514600"/>
            <a:ext cx="50292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67004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Fuzzy Logic  •  Genetic Algorithms  •  Machine Learning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771900"/>
            <a:ext cx="8321040" cy="868680"/>
          </a:xfrm>
          <a:prstGeom prst="rect">
            <a:avLst/>
          </a:prstGeom>
          <a:solidFill>
            <a:srgbClr val="132438"/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069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2">
                    <a:lumMod val="90000"/>
                  </a:schemeClr>
                </a:solidFill>
                <a:latin typeface="Arial Rounded MT Bold" panose="020F0704030504030204" pitchFamily="34" charset="0"/>
              </a:rPr>
              <a:t>VARSHINI PARTHIBAN – 23MID0336</a:t>
            </a:r>
          </a:p>
          <a:p>
            <a:pPr marL="0" indent="0">
              <a:buNone/>
            </a:pPr>
            <a:r>
              <a:rPr lang="en-US" sz="1100" dirty="0">
                <a:solidFill>
                  <a:schemeClr val="bg2">
                    <a:lumMod val="90000"/>
                  </a:schemeClr>
                </a:solidFill>
                <a:latin typeface="Arial Rounded MT Bold" panose="020F0704030504030204" pitchFamily="34" charset="0"/>
              </a:rPr>
              <a:t>VIJAY KRISHNAA S – 23MID0433</a:t>
            </a:r>
          </a:p>
        </p:txBody>
      </p:sp>
      <p:sp>
        <p:nvSpPr>
          <p:cNvPr id="19" name="Text 17"/>
          <p:cNvSpPr/>
          <p:nvPr/>
        </p:nvSpPr>
        <p:spPr>
          <a:xfrm>
            <a:off x="502920" y="4343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08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201168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2788920" cy="1143000"/>
          </a:xfrm>
          <a:prstGeom prst="rect">
            <a:avLst/>
          </a:prstGeom>
          <a:solidFill>
            <a:srgbClr val="132438"/>
          </a:solidFill>
          <a:ln w="9525">
            <a:solidFill>
              <a:srgbClr val="00808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502920" cy="1143000"/>
          </a:xfrm>
          <a:prstGeom prst="rect">
            <a:avLst/>
          </a:prstGeom>
          <a:solidFill>
            <a:srgbClr val="008080"/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106984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Problem Statement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688" y="141732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Why small businesses struggle with pricing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91840" y="960120"/>
            <a:ext cx="2788920" cy="1143000"/>
          </a:xfrm>
          <a:prstGeom prst="rect">
            <a:avLst/>
          </a:prstGeom>
          <a:solidFill>
            <a:srgbClr val="132438"/>
          </a:solidFill>
          <a:ln w="9525">
            <a:solidFill>
              <a:srgbClr val="00808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960120"/>
            <a:ext cx="502920" cy="1143000"/>
          </a:xfrm>
          <a:prstGeom prst="rect">
            <a:avLst/>
          </a:prstGeom>
          <a:solidFill>
            <a:srgbClr val="008080"/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58768" y="106984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System Overview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58768" y="141732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Architecture &amp; data flow of the solution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17920" y="960120"/>
            <a:ext cx="2788920" cy="1143000"/>
          </a:xfrm>
          <a:prstGeom prst="rect">
            <a:avLst/>
          </a:prstGeom>
          <a:solidFill>
            <a:srgbClr val="132438"/>
          </a:solidFill>
          <a:ln w="9525">
            <a:solidFill>
              <a:srgbClr val="00808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960120"/>
            <a:ext cx="502920" cy="1143000"/>
          </a:xfrm>
          <a:prstGeom prst="rect">
            <a:avLst/>
          </a:prstGeom>
          <a:solidFill>
            <a:srgbClr val="008080"/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84848" y="106984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Fuzzy Logic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84848" y="141732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Mamdani FIS — membership functions &amp; rules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258568"/>
            <a:ext cx="2788920" cy="1143000"/>
          </a:xfrm>
          <a:prstGeom prst="rect">
            <a:avLst/>
          </a:prstGeom>
          <a:solidFill>
            <a:srgbClr val="132438"/>
          </a:solidFill>
          <a:ln w="9525">
            <a:solidFill>
              <a:srgbClr val="00808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258568"/>
            <a:ext cx="502920" cy="1143000"/>
          </a:xfrm>
          <a:prstGeom prst="rect">
            <a:avLst/>
          </a:prstGeom>
          <a:solidFill>
            <a:srgbClr val="008080"/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578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32688" y="2368296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Fuzzy Rules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32688" y="271576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All 18+ rules explained in detail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91840" y="2258568"/>
            <a:ext cx="2788920" cy="1143000"/>
          </a:xfrm>
          <a:prstGeom prst="rect">
            <a:avLst/>
          </a:prstGeom>
          <a:solidFill>
            <a:srgbClr val="132438"/>
          </a:solidFill>
          <a:ln w="9525">
            <a:solidFill>
              <a:srgbClr val="00808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91840" y="2258568"/>
            <a:ext cx="502920" cy="1143000"/>
          </a:xfrm>
          <a:prstGeom prst="rect">
            <a:avLst/>
          </a:prstGeom>
          <a:solidFill>
            <a:srgbClr val="008080"/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2578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858768" y="2368296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Genetic Algorithm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858768" y="271576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8-parameter evolutionary optimization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17920" y="2258568"/>
            <a:ext cx="2788920" cy="1143000"/>
          </a:xfrm>
          <a:prstGeom prst="rect">
            <a:avLst/>
          </a:prstGeom>
          <a:solidFill>
            <a:srgbClr val="132438"/>
          </a:solidFill>
          <a:ln w="9525">
            <a:solidFill>
              <a:srgbClr val="00808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2258568"/>
            <a:ext cx="502920" cy="1143000"/>
          </a:xfrm>
          <a:prstGeom prst="rect">
            <a:avLst/>
          </a:prstGeom>
          <a:solidFill>
            <a:srgbClr val="008080"/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2578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784848" y="2368296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Machine Learning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84848" y="271576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Gradient Boosting for demand forecasting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5760" y="3557016"/>
            <a:ext cx="2788920" cy="1143000"/>
          </a:xfrm>
          <a:prstGeom prst="rect">
            <a:avLst/>
          </a:prstGeom>
          <a:solidFill>
            <a:srgbClr val="132438"/>
          </a:solidFill>
          <a:ln w="9525">
            <a:solidFill>
              <a:srgbClr val="00808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65760" y="3557016"/>
            <a:ext cx="502920" cy="1143000"/>
          </a:xfrm>
          <a:prstGeom prst="rect">
            <a:avLst/>
          </a:prstGeom>
          <a:solidFill>
            <a:srgbClr val="008080"/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8770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32688" y="3666744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System Integration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32688" y="4014216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How all three components connect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91840" y="3557016"/>
            <a:ext cx="2788920" cy="1143000"/>
          </a:xfrm>
          <a:prstGeom prst="rect">
            <a:avLst/>
          </a:prstGeom>
          <a:solidFill>
            <a:srgbClr val="132438"/>
          </a:solidFill>
          <a:ln w="9525">
            <a:solidFill>
              <a:srgbClr val="00808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291840" y="3557016"/>
            <a:ext cx="502920" cy="1143000"/>
          </a:xfrm>
          <a:prstGeom prst="rect">
            <a:avLst/>
          </a:prstGeom>
          <a:solidFill>
            <a:srgbClr val="008080"/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91840" y="38770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08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3858768" y="3666744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Results &amp; Metrics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858768" y="4014216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Performance, accuracy &amp; real-world impact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217920" y="3557016"/>
            <a:ext cx="2788920" cy="1143000"/>
          </a:xfrm>
          <a:prstGeom prst="rect">
            <a:avLst/>
          </a:prstGeom>
          <a:solidFill>
            <a:srgbClr val="132438"/>
          </a:solidFill>
          <a:ln w="9525">
            <a:solidFill>
              <a:srgbClr val="00808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217920" y="3557016"/>
            <a:ext cx="502920" cy="1143000"/>
          </a:xfrm>
          <a:prstGeom prst="rect">
            <a:avLst/>
          </a:prstGeom>
          <a:solidFill>
            <a:srgbClr val="008080"/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17920" y="38770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09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784848" y="3666744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Conclusion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784848" y="4014216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Future work &amp; summary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01  |  Problem Statement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566160" y="1097280"/>
            <a:ext cx="2011680" cy="2011680"/>
          </a:xfrm>
          <a:prstGeom prst="ellipse">
            <a:avLst/>
          </a:prstGeom>
          <a:solidFill>
            <a:srgbClr val="0D1B2A"/>
          </a:solidFill>
          <a:ln w="25400">
            <a:solidFill>
              <a:srgbClr val="008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566160" y="16002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</a:rPr>
              <a:t>PRICING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</a:rPr>
              <a:t>DILEMMA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207008"/>
            <a:ext cx="2560320" cy="1005840"/>
          </a:xfrm>
          <a:prstGeom prst="rect">
            <a:avLst/>
          </a:prstGeom>
          <a:solidFill>
            <a:srgbClr val="FFF5F5"/>
          </a:solidFill>
          <a:ln w="19050">
            <a:solidFill>
              <a:srgbClr val="E53E3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3075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53E3E"/>
                </a:solidFill>
              </a:rPr>
              <a:t>Too High Price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16184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572"/>
                </a:solidFill>
              </a:rPr>
              <a:t>Customers leave.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6572"/>
                </a:solidFill>
              </a:rPr>
              <a:t>Revenue drops.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2651760"/>
            <a:ext cx="2560320" cy="1005840"/>
          </a:xfrm>
          <a:prstGeom prst="rect">
            <a:avLst/>
          </a:prstGeom>
          <a:solidFill>
            <a:srgbClr val="FFF5F5"/>
          </a:solidFill>
          <a:ln w="19050">
            <a:solidFill>
              <a:srgbClr val="E53E3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365760" y="27249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53E3E"/>
                </a:solidFill>
              </a:rPr>
              <a:t>Too Low Price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303580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572"/>
                </a:solidFill>
              </a:rPr>
              <a:t>Business loses money.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6572"/>
                </a:solidFill>
              </a:rPr>
              <a:t>Unsustainable.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309360" y="1239130"/>
            <a:ext cx="2560320" cy="1005840"/>
          </a:xfrm>
          <a:prstGeom prst="rect">
            <a:avLst/>
          </a:prstGeom>
          <a:solidFill>
            <a:srgbClr val="FFF5F5"/>
          </a:solidFill>
          <a:ln w="19050">
            <a:solidFill>
              <a:srgbClr val="D9770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6583680" y="13075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</a:rPr>
              <a:t>Market Changes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583680" y="16184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572"/>
                </a:solidFill>
              </a:rPr>
              <a:t>Demand fluctuates.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6572"/>
                </a:solidFill>
              </a:rPr>
              <a:t>Hard to track.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309360" y="2608385"/>
            <a:ext cx="2560320" cy="1005840"/>
          </a:xfrm>
          <a:prstGeom prst="rect">
            <a:avLst/>
          </a:prstGeom>
          <a:solidFill>
            <a:srgbClr val="FFF5F5"/>
          </a:solidFill>
          <a:ln w="19050">
            <a:solidFill>
              <a:srgbClr val="D9770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6" name="Text 14"/>
          <p:cNvSpPr/>
          <p:nvPr/>
        </p:nvSpPr>
        <p:spPr>
          <a:xfrm>
            <a:off x="6583680" y="27249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</a:rPr>
              <a:t>Competition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583680" y="303580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572"/>
                </a:solidFill>
              </a:rPr>
              <a:t>Competitors adjust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6572"/>
                </a:solidFill>
              </a:rPr>
              <a:t>prices daily.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4069080"/>
            <a:ext cx="265176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808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0040" y="4114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</a:rPr>
              <a:t>73%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20040" y="4480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of small businesses price by gut feeling alone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0" y="4069080"/>
            <a:ext cx="265176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808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00400" y="4114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</a:rPr>
              <a:t>₹2.4L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200400" y="4480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avg. annual loss due to suboptimal pricing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080760" y="4069080"/>
            <a:ext cx="265176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808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80760" y="4114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</a:rPr>
              <a:t>3×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080760" y="4480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more likely to fail without data-driven pricing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08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02  |  System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612648"/>
            <a:ext cx="18288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463040"/>
            <a:ext cx="1645920" cy="1325880"/>
          </a:xfrm>
          <a:prstGeom prst="rect">
            <a:avLst/>
          </a:prstGeom>
          <a:solidFill>
            <a:srgbClr val="132438"/>
          </a:solidFill>
          <a:ln w="15240">
            <a:solidFill>
              <a:srgbClr val="00808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3040"/>
            <a:ext cx="1645920" cy="384048"/>
          </a:xfrm>
          <a:prstGeom prst="rect">
            <a:avLst/>
          </a:prstGeom>
          <a:solidFill>
            <a:srgbClr val="008080"/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CSV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Upload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892808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Raw sales data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from business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029968" y="2029968"/>
            <a:ext cx="438912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1901952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2C39A"/>
                </a:solidFill>
              </a:rPr>
              <a:t>▶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48840" y="1463040"/>
            <a:ext cx="1645920" cy="1325880"/>
          </a:xfrm>
          <a:prstGeom prst="rect">
            <a:avLst/>
          </a:prstGeom>
          <a:solidFill>
            <a:srgbClr val="132438"/>
          </a:solidFill>
          <a:ln w="15240">
            <a:solidFill>
              <a:srgbClr val="00808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148840" y="1463040"/>
            <a:ext cx="1645920" cy="384048"/>
          </a:xfrm>
          <a:prstGeom prst="rect">
            <a:avLst/>
          </a:prstGeom>
          <a:solidFill>
            <a:srgbClr val="008080"/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48840" y="14630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Data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Preprocess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148840" y="1892808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Feature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engineering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813048" y="2029968"/>
            <a:ext cx="438912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0" y="1901952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2C39A"/>
                </a:solidFill>
              </a:rPr>
              <a:t>▶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931920" y="1463040"/>
            <a:ext cx="1645920" cy="1325880"/>
          </a:xfrm>
          <a:prstGeom prst="rect">
            <a:avLst/>
          </a:prstGeom>
          <a:solidFill>
            <a:srgbClr val="132438"/>
          </a:solidFill>
          <a:ln w="15240">
            <a:solidFill>
              <a:srgbClr val="00808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931920" y="1463040"/>
            <a:ext cx="1645920" cy="384048"/>
          </a:xfrm>
          <a:prstGeom prst="rect">
            <a:avLst/>
          </a:prstGeom>
          <a:solidFill>
            <a:srgbClr val="008080"/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0" y="14630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Fuzzy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System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931920" y="1892808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Mamdani FIS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18+ rules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596128" y="2029968"/>
            <a:ext cx="438912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1901952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2C39A"/>
                </a:solidFill>
              </a:rPr>
              <a:t>▶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715000" y="1463040"/>
            <a:ext cx="1645920" cy="1325880"/>
          </a:xfrm>
          <a:prstGeom prst="rect">
            <a:avLst/>
          </a:prstGeom>
          <a:solidFill>
            <a:srgbClr val="132438"/>
          </a:solidFill>
          <a:ln w="15240">
            <a:solidFill>
              <a:srgbClr val="00808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715000" y="1463040"/>
            <a:ext cx="1645920" cy="384048"/>
          </a:xfrm>
          <a:prstGeom prst="rect">
            <a:avLst/>
          </a:prstGeom>
          <a:solidFill>
            <a:srgbClr val="008080"/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15000" y="14630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Genetic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Algorithm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715000" y="1892808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8 params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100 generations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379208" y="2029968"/>
            <a:ext cx="438912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0960" y="1901952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2C39A"/>
                </a:solidFill>
              </a:rPr>
              <a:t>▶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498080" y="1463040"/>
            <a:ext cx="1645920" cy="1325880"/>
          </a:xfrm>
          <a:prstGeom prst="rect">
            <a:avLst/>
          </a:prstGeom>
          <a:solidFill>
            <a:srgbClr val="132438"/>
          </a:solidFill>
          <a:ln w="15240">
            <a:solidFill>
              <a:srgbClr val="00808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498080" y="1463040"/>
            <a:ext cx="1645920" cy="384048"/>
          </a:xfrm>
          <a:prstGeom prst="rect">
            <a:avLst/>
          </a:prstGeom>
          <a:solidFill>
            <a:srgbClr val="008080"/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0" y="14630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Price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Output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498080" y="1892808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-30% to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+30% adjust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148840" y="3566160"/>
            <a:ext cx="1234440" cy="886968"/>
          </a:xfrm>
          <a:prstGeom prst="rect">
            <a:avLst/>
          </a:prstGeom>
          <a:solidFill>
            <a:srgbClr val="132438"/>
          </a:solidFill>
          <a:ln w="15240">
            <a:solidFill>
              <a:srgbClr val="2DC65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148840" y="3566160"/>
            <a:ext cx="1234440" cy="32004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48840" y="35661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📈 ML Model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148840" y="390448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Gradient Boost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Demand Forecast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11480" y="3337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C39A"/>
                </a:solidFill>
              </a:rPr>
              <a:t>TECH STACK: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11480" y="3657600"/>
            <a:ext cx="1572768" cy="329184"/>
          </a:xfrm>
          <a:prstGeom prst="rect">
            <a:avLst/>
          </a:prstGeom>
          <a:solidFill>
            <a:srgbClr val="132438"/>
          </a:solidFill>
          <a:ln w="9525">
            <a:solidFill>
              <a:srgbClr val="00808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365760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F5F3"/>
                </a:solidFill>
              </a:rPr>
              <a:t>Flask REST API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075688" y="3657600"/>
            <a:ext cx="1572768" cy="329184"/>
          </a:xfrm>
          <a:prstGeom prst="rect">
            <a:avLst/>
          </a:prstGeom>
          <a:solidFill>
            <a:srgbClr val="132438"/>
          </a:solidFill>
          <a:ln w="9525">
            <a:solidFill>
              <a:srgbClr val="00808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075688" y="365760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F5F3"/>
                </a:solidFill>
              </a:rPr>
              <a:t>Python + scikit-learn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739896" y="3657600"/>
            <a:ext cx="1572768" cy="329184"/>
          </a:xfrm>
          <a:prstGeom prst="rect">
            <a:avLst/>
          </a:prstGeom>
          <a:solidFill>
            <a:srgbClr val="132438"/>
          </a:solidFill>
          <a:ln w="9525">
            <a:solidFill>
              <a:srgbClr val="00808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39896" y="365760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F5F3"/>
                </a:solidFill>
              </a:rPr>
              <a:t>Bootstrap 5 + Chart.js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404104" y="3657600"/>
            <a:ext cx="1572768" cy="329184"/>
          </a:xfrm>
          <a:prstGeom prst="rect">
            <a:avLst/>
          </a:prstGeom>
          <a:solidFill>
            <a:srgbClr val="132438"/>
          </a:solidFill>
          <a:ln w="9525">
            <a:solidFill>
              <a:srgbClr val="00808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04104" y="365760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F5F3"/>
                </a:solidFill>
              </a:rPr>
              <a:t>Plotly 3D Visuals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7068312" y="3657600"/>
            <a:ext cx="1572768" cy="329184"/>
          </a:xfrm>
          <a:prstGeom prst="rect">
            <a:avLst/>
          </a:prstGeom>
          <a:solidFill>
            <a:srgbClr val="132438"/>
          </a:solidFill>
          <a:ln w="9525">
            <a:solidFill>
              <a:srgbClr val="00808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68312" y="365760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F5F3"/>
                </a:solidFill>
              </a:rPr>
              <a:t>AI Chatbot (GPT)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03  |  Fuzzy Logic — What &amp; Why?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60520" cy="1828800"/>
          </a:xfrm>
          <a:prstGeom prst="rect">
            <a:avLst/>
          </a:prstGeom>
          <a:solidFill>
            <a:srgbClr val="FFF5F5"/>
          </a:solidFill>
          <a:ln w="19050">
            <a:solidFill>
              <a:srgbClr val="E53E3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4160520" cy="41148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❌ Traditional Logic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Thinks in 0 or 1 only.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Yes / No. True / False.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Example: Is demand high?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→ Either YES or NO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160520" cy="1828800"/>
          </a:xfrm>
          <a:prstGeom prst="rect">
            <a:avLst/>
          </a:prstGeom>
          <a:solidFill>
            <a:srgbClr val="F0FFF4"/>
          </a:solidFill>
          <a:ln w="19050">
            <a:solidFill>
              <a:srgbClr val="2DC653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60120"/>
            <a:ext cx="4160520" cy="41148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96012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Fuzzy Logic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463040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Thinks in degrees 0.0–1.0.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Partially True.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Example: Demand = 72%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→ High: 0.8, Very High: 0.2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841248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9260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</a:rPr>
              <a:t>Why Mamdani FIS? (Not Sugeno)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246120"/>
            <a:ext cx="2560320" cy="338328"/>
          </a:xfrm>
          <a:prstGeom prst="rect">
            <a:avLst/>
          </a:prstGeom>
          <a:solidFill>
            <a:srgbClr val="00808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246120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Feature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926080" y="3246120"/>
            <a:ext cx="2834640" cy="338328"/>
          </a:xfrm>
          <a:prstGeom prst="rect">
            <a:avLst/>
          </a:prstGeom>
          <a:solidFill>
            <a:srgbClr val="00808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0" y="3246120"/>
            <a:ext cx="2834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Mamdani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760720" y="3246120"/>
            <a:ext cx="2834640" cy="338328"/>
          </a:xfrm>
          <a:prstGeom prst="rect">
            <a:avLst/>
          </a:prstGeom>
          <a:solidFill>
            <a:srgbClr val="00808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0" y="3246120"/>
            <a:ext cx="2834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Sugeno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584448"/>
            <a:ext cx="25603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584448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Output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926080" y="3584448"/>
            <a:ext cx="28346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0" y="3584448"/>
            <a:ext cx="2834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Fuzzy Set (shape)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760720" y="3584448"/>
            <a:ext cx="28346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0" y="3584448"/>
            <a:ext cx="2834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Crisp number directly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3922776"/>
            <a:ext cx="2560320" cy="338328"/>
          </a:xfrm>
          <a:prstGeom prst="rect">
            <a:avLst/>
          </a:prstGeom>
          <a:solidFill>
            <a:srgbClr val="EAF7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922776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Rules look like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926080" y="3922776"/>
            <a:ext cx="2834640" cy="338328"/>
          </a:xfrm>
          <a:prstGeom prst="rect">
            <a:avLst/>
          </a:prstGeom>
          <a:solidFill>
            <a:srgbClr val="EAF7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26080" y="3922776"/>
            <a:ext cx="2834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Human language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760720" y="3922776"/>
            <a:ext cx="2834640" cy="338328"/>
          </a:xfrm>
          <a:prstGeom prst="rect">
            <a:avLst/>
          </a:prstGeom>
          <a:solidFill>
            <a:srgbClr val="EAF7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60720" y="3922776"/>
            <a:ext cx="2834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Mathematical equations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4261104"/>
            <a:ext cx="25603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261104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Explainability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926080" y="4261104"/>
            <a:ext cx="28346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26080" y="4261104"/>
            <a:ext cx="2834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High — owner can understand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760720" y="4261104"/>
            <a:ext cx="28346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0" y="4261104"/>
            <a:ext cx="2834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Lower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4599432"/>
            <a:ext cx="2560320" cy="338328"/>
          </a:xfrm>
          <a:prstGeom prst="rect">
            <a:avLst/>
          </a:prstGeom>
          <a:solidFill>
            <a:srgbClr val="EAF7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599432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Best for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926080" y="4599432"/>
            <a:ext cx="2834640" cy="338328"/>
          </a:xfrm>
          <a:prstGeom prst="rect">
            <a:avLst/>
          </a:prstGeom>
          <a:solidFill>
            <a:srgbClr val="EAF7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926080" y="4599432"/>
            <a:ext cx="2834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Decision support ✅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760720" y="4599432"/>
            <a:ext cx="2834640" cy="338328"/>
          </a:xfrm>
          <a:prstGeom prst="rect">
            <a:avLst/>
          </a:prstGeom>
          <a:solidFill>
            <a:srgbClr val="EAF7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60720" y="4599432"/>
            <a:ext cx="2834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Control systems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08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03  |  Fuzzy Inputs — 5 Variables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612648"/>
            <a:ext cx="18288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8366760" cy="704088"/>
          </a:xfrm>
          <a:prstGeom prst="rect">
            <a:avLst/>
          </a:prstGeom>
          <a:solidFill>
            <a:srgbClr val="132438"/>
          </a:solidFill>
          <a:ln w="9525">
            <a:solidFill>
              <a:srgbClr val="00808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594360" cy="704088"/>
          </a:xfrm>
          <a:prstGeom prst="rect">
            <a:avLst/>
          </a:prstGeom>
          <a:solidFill>
            <a:srgbClr val="008080"/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68680"/>
            <a:ext cx="594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960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C39A"/>
                </a:solidFill>
              </a:rPr>
              <a:t>📊 Demand Level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51560" y="12527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Range: 0 – 100%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74720" y="1033272"/>
            <a:ext cx="36576" cy="384048"/>
          </a:xfrm>
          <a:prstGeom prst="rect">
            <a:avLst/>
          </a:prstGeom>
          <a:solidFill>
            <a:srgbClr val="008080"/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106984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5F3"/>
                </a:solidFill>
              </a:rPr>
              <a:t>Fuzzy Sets: Very Low / Low / Medium / High / Very High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1673352"/>
            <a:ext cx="8366760" cy="704088"/>
          </a:xfrm>
          <a:prstGeom prst="rect">
            <a:avLst/>
          </a:prstGeom>
          <a:solidFill>
            <a:srgbClr val="132438"/>
          </a:solidFill>
          <a:ln w="9525">
            <a:solidFill>
              <a:srgbClr val="00808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1673352"/>
            <a:ext cx="594360" cy="704088"/>
          </a:xfrm>
          <a:prstGeom prst="rect">
            <a:avLst/>
          </a:prstGeom>
          <a:solidFill>
            <a:srgbClr val="008080"/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73352"/>
            <a:ext cx="594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17647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C39A"/>
                </a:solidFill>
              </a:rPr>
              <a:t>💰 Profit Margin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51560" y="2057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Range: 0 – 100%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74720" y="1837944"/>
            <a:ext cx="36576" cy="384048"/>
          </a:xfrm>
          <a:prstGeom prst="rect">
            <a:avLst/>
          </a:prstGeom>
          <a:solidFill>
            <a:srgbClr val="008080"/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11880" y="187452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5F3"/>
                </a:solidFill>
              </a:rPr>
              <a:t>Fuzzy Sets: Very Low / Low / Medium / High / Very High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2478024"/>
            <a:ext cx="8366760" cy="704088"/>
          </a:xfrm>
          <a:prstGeom prst="rect">
            <a:avLst/>
          </a:prstGeom>
          <a:solidFill>
            <a:srgbClr val="132438"/>
          </a:solidFill>
          <a:ln w="9525">
            <a:solidFill>
              <a:srgbClr val="00808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478024"/>
            <a:ext cx="594360" cy="704088"/>
          </a:xfrm>
          <a:prstGeom prst="rect">
            <a:avLst/>
          </a:prstGeom>
          <a:solidFill>
            <a:srgbClr val="008080"/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478024"/>
            <a:ext cx="594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1560" y="25694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C39A"/>
                </a:solidFill>
              </a:rPr>
              <a:t>⭐ Customer Satisfaction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51560" y="28620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Range: 0 – 100%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74720" y="2642616"/>
            <a:ext cx="36576" cy="384048"/>
          </a:xfrm>
          <a:prstGeom prst="rect">
            <a:avLst/>
          </a:prstGeom>
          <a:solidFill>
            <a:srgbClr val="008080"/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11880" y="2679192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5F3"/>
                </a:solidFill>
              </a:rPr>
              <a:t>Fuzzy Sets: Poor / Average / Good / Excellent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3282696"/>
            <a:ext cx="8366760" cy="704088"/>
          </a:xfrm>
          <a:prstGeom prst="rect">
            <a:avLst/>
          </a:prstGeom>
          <a:solidFill>
            <a:srgbClr val="132438"/>
          </a:solidFill>
          <a:ln w="9525">
            <a:solidFill>
              <a:srgbClr val="00808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282696"/>
            <a:ext cx="594360" cy="704088"/>
          </a:xfrm>
          <a:prstGeom prst="rect">
            <a:avLst/>
          </a:prstGeom>
          <a:solidFill>
            <a:srgbClr val="008080"/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82696"/>
            <a:ext cx="594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51560" y="33741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C39A"/>
                </a:solidFill>
              </a:rPr>
              <a:t>🏪 Competition Intensity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051560" y="36667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Range: 0 – 100%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474720" y="3447288"/>
            <a:ext cx="36576" cy="384048"/>
          </a:xfrm>
          <a:prstGeom prst="rect">
            <a:avLst/>
          </a:prstGeom>
          <a:solidFill>
            <a:srgbClr val="008080"/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11880" y="3483864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5F3"/>
                </a:solidFill>
              </a:rPr>
              <a:t>Fuzzy Sets: Low / Medium / High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4087368"/>
            <a:ext cx="8366760" cy="704088"/>
          </a:xfrm>
          <a:prstGeom prst="rect">
            <a:avLst/>
          </a:prstGeom>
          <a:solidFill>
            <a:srgbClr val="132438"/>
          </a:solidFill>
          <a:ln w="9525">
            <a:solidFill>
              <a:srgbClr val="00808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65760" y="4087368"/>
            <a:ext cx="594360" cy="704088"/>
          </a:xfrm>
          <a:prstGeom prst="rect">
            <a:avLst/>
          </a:prstGeom>
          <a:solidFill>
            <a:srgbClr val="008080"/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087368"/>
            <a:ext cx="5943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51560" y="41788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C39A"/>
                </a:solidFill>
              </a:rPr>
              <a:t>📅 Seasonality Factor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051560" y="447141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Range: -1 to +1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474720" y="4251960"/>
            <a:ext cx="36576" cy="384048"/>
          </a:xfrm>
          <a:prstGeom prst="rect">
            <a:avLst/>
          </a:prstGeom>
          <a:solidFill>
            <a:srgbClr val="008080"/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11880" y="4288536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5F3"/>
                </a:solidFill>
              </a:rPr>
              <a:t>Fuzzy Sets: Off-Season / Normal / Peak Season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65760" y="4892040"/>
            <a:ext cx="8366760" cy="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  |  Membership Functions — How Fuzzy Sets Work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080"/>
                </a:solidFill>
              </a:rPr>
              <a:t>Demand Level Input — Membership Functions (Triangular &amp; Trapezoidal)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1463040"/>
          </a:xfrm>
          <a:prstGeom prst="rect">
            <a:avLst/>
          </a:prstGeom>
          <a:solidFill>
            <a:srgbClr val="F8FFFE"/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7889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572"/>
                </a:solidFill>
              </a:rPr>
              <a:t>0%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5568" y="27889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572"/>
                </a:solidFill>
              </a:rPr>
              <a:t>20%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029968" y="27889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572"/>
                </a:solidFill>
              </a:rPr>
              <a:t>35%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127248" y="27889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572"/>
                </a:solidFill>
              </a:rPr>
              <a:t>55%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224528" y="27889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572"/>
                </a:solidFill>
              </a:rPr>
              <a:t>75%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230368" y="27889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572"/>
                </a:solidFill>
              </a:rPr>
              <a:t>90%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43600" y="27889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572"/>
                </a:solidFill>
              </a:rPr>
              <a:t>100%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2920" y="13716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53E3E"/>
                </a:solidFill>
              </a:rPr>
              <a:t>Very Low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E53E3E"/>
                </a:solidFill>
              </a:rPr>
              <a:t>[Trap]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48640" y="2670048"/>
            <a:ext cx="914400" cy="73152"/>
          </a:xfrm>
          <a:prstGeom prst="rect">
            <a:avLst/>
          </a:prstGeom>
          <a:solidFill>
            <a:srgbClr val="E53E3E">
              <a:alpha val="60000"/>
            </a:srgbClr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08760" y="13716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97706"/>
                </a:solidFill>
              </a:rPr>
              <a:t>Low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D97706"/>
                </a:solidFill>
              </a:rPr>
              <a:t>[Tri]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554480" y="2670048"/>
            <a:ext cx="914400" cy="73152"/>
          </a:xfrm>
          <a:prstGeom prst="rect">
            <a:avLst/>
          </a:prstGeom>
          <a:solidFill>
            <a:srgbClr val="D97706">
              <a:alpha val="6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51760" y="13716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DC653"/>
                </a:solidFill>
              </a:rPr>
              <a:t>Medium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2DC653"/>
                </a:solidFill>
              </a:rPr>
              <a:t>[Tri]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697480" y="2670048"/>
            <a:ext cx="914400" cy="73152"/>
          </a:xfrm>
          <a:prstGeom prst="rect">
            <a:avLst/>
          </a:prstGeom>
          <a:solidFill>
            <a:srgbClr val="2DC653">
              <a:alpha val="60000"/>
            </a:srgbClr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13716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891B2"/>
                </a:solidFill>
              </a:rPr>
              <a:t>High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0891B2"/>
                </a:solidFill>
              </a:rPr>
              <a:t>[Tri]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794760" y="2670048"/>
            <a:ext cx="914400" cy="73152"/>
          </a:xfrm>
          <a:prstGeom prst="rect">
            <a:avLst/>
          </a:prstGeom>
          <a:solidFill>
            <a:srgbClr val="0891B2">
              <a:alpha val="6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13716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7C3AED"/>
                </a:solidFill>
              </a:rPr>
              <a:t>Very High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7C3AED"/>
                </a:solidFill>
              </a:rPr>
              <a:t>[Trap]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074920" y="2670048"/>
            <a:ext cx="914400" cy="73152"/>
          </a:xfrm>
          <a:prstGeom prst="rect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03580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572"/>
                </a:solidFill>
              </a:rPr>
              <a:t>Triangular: Has a peak (100% membership at one exact point, fades on both sides)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6572"/>
                </a:solidFill>
              </a:rPr>
              <a:t>Trapezoidal: Has a flat top (100% membership over a range, fades at edges)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29077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080"/>
                </a:solidFill>
              </a:rPr>
              <a:t>Output Variable — Price Adjustment (–30% to +30%)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474720"/>
            <a:ext cx="210312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4747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</a:rPr>
              <a:t>Output Set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468880" y="3474720"/>
            <a:ext cx="155448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68880" y="34747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</a:rPr>
              <a:t>Range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023360" y="3474720"/>
            <a:ext cx="128016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23360" y="34747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</a:rPr>
              <a:t>Type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303520" y="3474720"/>
            <a:ext cx="182880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0" y="34747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</a:rPr>
              <a:t>Parameters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3767328"/>
            <a:ext cx="2103120" cy="187452"/>
          </a:xfrm>
          <a:prstGeom prst="rect">
            <a:avLst/>
          </a:prstGeom>
          <a:solidFill>
            <a:srgbClr val="00000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767328"/>
            <a:ext cx="210312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53E3E"/>
                </a:solidFill>
              </a:rPr>
              <a:t>Large Decrease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468880" y="3779052"/>
            <a:ext cx="1554480" cy="1874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68880" y="3767328"/>
            <a:ext cx="15544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-30% to -15%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023360" y="3767328"/>
            <a:ext cx="1280160" cy="1874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23360" y="3767328"/>
            <a:ext cx="128016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Trapezoidal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303520" y="3767328"/>
            <a:ext cx="1828800" cy="1874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03520" y="3767328"/>
            <a:ext cx="18288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[-30,-30,-20,-15]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132320" y="3767328"/>
            <a:ext cx="201168" cy="18745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333488" y="3767328"/>
            <a:ext cx="1371600" cy="1874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33488" y="3767328"/>
            <a:ext cx="13716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572"/>
                </a:solidFill>
              </a:rPr>
              <a:t>Peak: -30%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65760" y="3954780"/>
            <a:ext cx="2103120" cy="187452"/>
          </a:xfrm>
          <a:prstGeom prst="rect">
            <a:avLst/>
          </a:prstGeom>
          <a:solidFill>
            <a:srgbClr val="00000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3954780"/>
            <a:ext cx="210312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6565"/>
                </a:solidFill>
              </a:rPr>
              <a:t>Medium Decrease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468880" y="3954780"/>
            <a:ext cx="1554480" cy="1874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468880" y="3954780"/>
            <a:ext cx="15544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-20% to -5%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023360" y="3954780"/>
            <a:ext cx="1280160" cy="1874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023360" y="3954780"/>
            <a:ext cx="128016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Triangular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303520" y="3954780"/>
            <a:ext cx="1828800" cy="1874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03520" y="3954780"/>
            <a:ext cx="18288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[-20,-12,-5]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132320" y="3954780"/>
            <a:ext cx="201168" cy="187452"/>
          </a:xfrm>
          <a:prstGeom prst="rect">
            <a:avLst/>
          </a:prstGeom>
          <a:solidFill>
            <a:srgbClr val="F56565"/>
          </a:solidFill>
          <a:ln w="12700">
            <a:solidFill>
              <a:srgbClr val="F5656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333488" y="3954780"/>
            <a:ext cx="1371600" cy="1874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33488" y="3954780"/>
            <a:ext cx="13716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572"/>
                </a:solidFill>
              </a:rPr>
              <a:t>Peak: -12%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365760" y="4142232"/>
            <a:ext cx="2103120" cy="187452"/>
          </a:xfrm>
          <a:prstGeom prst="rect">
            <a:avLst/>
          </a:prstGeom>
          <a:solidFill>
            <a:srgbClr val="00000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5760" y="4142232"/>
            <a:ext cx="210312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C8181"/>
                </a:solidFill>
              </a:rPr>
              <a:t>Small Decrease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2468880" y="4142232"/>
            <a:ext cx="1554480" cy="1874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468880" y="4142232"/>
            <a:ext cx="15544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-10% to 0%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023360" y="4142232"/>
            <a:ext cx="1280160" cy="1874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023360" y="4142232"/>
            <a:ext cx="128016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Triangular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303520" y="4142232"/>
            <a:ext cx="1828800" cy="1874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303520" y="4142232"/>
            <a:ext cx="18288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[-10,-5,0]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7132320" y="4142232"/>
            <a:ext cx="201168" cy="187452"/>
          </a:xfrm>
          <a:prstGeom prst="rect">
            <a:avLst/>
          </a:prstGeom>
          <a:solidFill>
            <a:srgbClr val="FC8181"/>
          </a:solidFill>
          <a:ln w="12700">
            <a:solidFill>
              <a:srgbClr val="FC8181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333488" y="4142232"/>
            <a:ext cx="1371600" cy="1874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333488" y="4142232"/>
            <a:ext cx="13716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572"/>
                </a:solidFill>
              </a:rPr>
              <a:t>Peak: -5%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365760" y="4329684"/>
            <a:ext cx="2103120" cy="187452"/>
          </a:xfrm>
          <a:prstGeom prst="rect">
            <a:avLst/>
          </a:prstGeom>
          <a:solidFill>
            <a:srgbClr val="00000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65760" y="4329684"/>
            <a:ext cx="210312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18096"/>
                </a:solidFill>
              </a:rPr>
              <a:t>Maintain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2468880" y="4329684"/>
            <a:ext cx="1554480" cy="1874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468880" y="4329684"/>
            <a:ext cx="15544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-3% to +3%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023360" y="4329684"/>
            <a:ext cx="1280160" cy="1874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023360" y="4329684"/>
            <a:ext cx="128016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Triangular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5303520" y="4329684"/>
            <a:ext cx="1828800" cy="1874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303520" y="4329684"/>
            <a:ext cx="18288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[-3,0,3]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7132320" y="4329684"/>
            <a:ext cx="201168" cy="187452"/>
          </a:xfrm>
          <a:prstGeom prst="rect">
            <a:avLst/>
          </a:prstGeom>
          <a:solidFill>
            <a:srgbClr val="718096"/>
          </a:solidFill>
          <a:ln w="12700">
            <a:solidFill>
              <a:srgbClr val="718096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333488" y="4329684"/>
            <a:ext cx="1371600" cy="1874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333488" y="4329684"/>
            <a:ext cx="13716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572"/>
                </a:solidFill>
              </a:rPr>
              <a:t>Peak: 0%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365760" y="4517136"/>
            <a:ext cx="2103120" cy="187452"/>
          </a:xfrm>
          <a:prstGeom prst="rect">
            <a:avLst/>
          </a:prstGeom>
          <a:solidFill>
            <a:srgbClr val="00000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65760" y="4517136"/>
            <a:ext cx="210312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8D391"/>
                </a:solidFill>
              </a:rPr>
              <a:t>Small Increase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2468880" y="4517136"/>
            <a:ext cx="1554480" cy="1874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468880" y="4517136"/>
            <a:ext cx="15544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0% to +10%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4023360" y="4517136"/>
            <a:ext cx="1280160" cy="1874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023360" y="4517136"/>
            <a:ext cx="128016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Triangular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5303520" y="4517136"/>
            <a:ext cx="1828800" cy="1874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303520" y="4517136"/>
            <a:ext cx="18288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[0,5,10]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7132320" y="4517136"/>
            <a:ext cx="201168" cy="187452"/>
          </a:xfrm>
          <a:prstGeom prst="rect">
            <a:avLst/>
          </a:prstGeom>
          <a:solidFill>
            <a:srgbClr val="68D391"/>
          </a:solidFill>
          <a:ln w="12700">
            <a:solidFill>
              <a:srgbClr val="68D391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333488" y="4517136"/>
            <a:ext cx="1371600" cy="1874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333488" y="4517136"/>
            <a:ext cx="13716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572"/>
                </a:solidFill>
              </a:rPr>
              <a:t>Peak: +5%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365760" y="4704588"/>
            <a:ext cx="2103120" cy="187452"/>
          </a:xfrm>
          <a:prstGeom prst="rect">
            <a:avLst/>
          </a:prstGeom>
          <a:solidFill>
            <a:srgbClr val="00000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65760" y="4704588"/>
            <a:ext cx="210312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DC653"/>
                </a:solidFill>
              </a:rPr>
              <a:t>Medium Increase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2468880" y="4704588"/>
            <a:ext cx="1554480" cy="1874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2468880" y="4704588"/>
            <a:ext cx="15544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+5% to +20%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4023360" y="4704588"/>
            <a:ext cx="1280160" cy="1874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023360" y="4704588"/>
            <a:ext cx="128016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Triangular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5303520" y="4704588"/>
            <a:ext cx="1828800" cy="1874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303520" y="4704588"/>
            <a:ext cx="18288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[5,12,20]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7132320" y="4704588"/>
            <a:ext cx="201168" cy="18745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333488" y="4704588"/>
            <a:ext cx="1371600" cy="1874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333488" y="4704588"/>
            <a:ext cx="13716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572"/>
                </a:solidFill>
              </a:rPr>
              <a:t>Peak: +12%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365760" y="4892040"/>
            <a:ext cx="2103120" cy="187452"/>
          </a:xfrm>
          <a:prstGeom prst="rect">
            <a:avLst/>
          </a:prstGeom>
          <a:solidFill>
            <a:srgbClr val="00000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65760" y="4892040"/>
            <a:ext cx="210312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76749"/>
                </a:solidFill>
              </a:rPr>
              <a:t>Large Increase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2468880" y="4892040"/>
            <a:ext cx="1554480" cy="1874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2468880" y="4892040"/>
            <a:ext cx="15544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+15% to +30%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4023360" y="4892040"/>
            <a:ext cx="1280160" cy="1874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023360" y="4892040"/>
            <a:ext cx="128016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Trapezoidal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5303520" y="4892040"/>
            <a:ext cx="1828800" cy="1874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303520" y="4892040"/>
            <a:ext cx="18288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[15,20,30,30]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7132320" y="4892040"/>
            <a:ext cx="201168" cy="187452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333488" y="4892040"/>
            <a:ext cx="1371600" cy="1874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7333488" y="4892040"/>
            <a:ext cx="13716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572"/>
                </a:solidFill>
              </a:rPr>
              <a:t>Peak: +30%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08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03  |  Mamdani Inference — 4 Steps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069080" cy="1828800"/>
          </a:xfrm>
          <a:prstGeom prst="rect">
            <a:avLst/>
          </a:prstGeom>
          <a:solidFill>
            <a:srgbClr val="132438"/>
          </a:solidFill>
          <a:ln w="15240">
            <a:solidFill>
              <a:srgbClr val="00808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77240"/>
            <a:ext cx="4069080" cy="365760"/>
          </a:xfrm>
          <a:prstGeom prst="rect">
            <a:avLst/>
          </a:prstGeom>
          <a:solidFill>
            <a:srgbClr val="008080">
              <a:alpha val="27000"/>
            </a:srgbClr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850392"/>
            <a:ext cx="256032" cy="256032"/>
          </a:xfrm>
          <a:prstGeom prst="ellipse">
            <a:avLst/>
          </a:prstGeom>
          <a:solidFill>
            <a:srgbClr val="008080"/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8503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84124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080"/>
                </a:solidFill>
              </a:rPr>
              <a:t>Step 1: Fuzzification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1234440"/>
            <a:ext cx="38404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5F3"/>
                </a:solidFill>
              </a:rPr>
              <a:t>Convert crisp numbers into fuzzy membership degrees.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5F3"/>
                </a:solidFill>
              </a:rPr>
              <a:t>Example: Demand = 72%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5F3"/>
                </a:solidFill>
              </a:rPr>
              <a:t>→ High (0.8), Very High (0.2)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5F3"/>
                </a:solidFill>
              </a:rPr>
              <a:t>→ Both sets partially activated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17720" y="777240"/>
            <a:ext cx="4069080" cy="1828800"/>
          </a:xfrm>
          <a:prstGeom prst="rect">
            <a:avLst/>
          </a:prstGeom>
          <a:solidFill>
            <a:srgbClr val="132438"/>
          </a:solidFill>
          <a:ln w="15240">
            <a:solidFill>
              <a:srgbClr val="02C39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777240"/>
            <a:ext cx="4069080" cy="365760"/>
          </a:xfrm>
          <a:prstGeom prst="rect">
            <a:avLst/>
          </a:prstGeom>
          <a:solidFill>
            <a:srgbClr val="02C39A">
              <a:alpha val="27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27448" y="850392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27448" y="8503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74920" y="84124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Step 2: Rule Evaluation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27448" y="1234440"/>
            <a:ext cx="38404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5F3"/>
                </a:solidFill>
              </a:rPr>
              <a:t>Apply IF-THEN rules using AND = min(), OR = max()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5F3"/>
                </a:solidFill>
              </a:rPr>
              <a:t>Example Rule 4: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5F3"/>
                </a:solidFill>
              </a:rPr>
              <a:t>IF demand IS high AND margin IS low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5F3"/>
                </a:solidFill>
              </a:rPr>
              <a:t>→ min(0.8, 0.4) = 0.4 firing strength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788920"/>
            <a:ext cx="4069080" cy="1828800"/>
          </a:xfrm>
          <a:prstGeom prst="rect">
            <a:avLst/>
          </a:prstGeom>
          <a:solidFill>
            <a:srgbClr val="132438"/>
          </a:solidFill>
          <a:ln w="15240">
            <a:solidFill>
              <a:srgbClr val="2DC653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788920"/>
            <a:ext cx="4069080" cy="365760"/>
          </a:xfrm>
          <a:prstGeom prst="rect">
            <a:avLst/>
          </a:prstGeom>
          <a:solidFill>
            <a:srgbClr val="2DC653">
              <a:alpha val="27000"/>
            </a:srgbClr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" y="2862072"/>
            <a:ext cx="256032" cy="256032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28620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285292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C653"/>
                </a:solidFill>
              </a:rPr>
              <a:t>Step 3: Aggregation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" y="3246120"/>
            <a:ext cx="38404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5F3"/>
                </a:solidFill>
              </a:rPr>
              <a:t>Combine all fired rules using max() operator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5F3"/>
                </a:solidFill>
              </a:rPr>
              <a:t>All partial fuzzy output shapes are merged into one combined output shape using maximum operation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17720" y="2788920"/>
            <a:ext cx="4069080" cy="1828800"/>
          </a:xfrm>
          <a:prstGeom prst="rect">
            <a:avLst/>
          </a:prstGeom>
          <a:solidFill>
            <a:srgbClr val="132438"/>
          </a:solidFill>
          <a:ln w="15240">
            <a:solidFill>
              <a:srgbClr val="F6AD55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17720" y="2788920"/>
            <a:ext cx="4069080" cy="365760"/>
          </a:xfrm>
          <a:prstGeom prst="rect">
            <a:avLst/>
          </a:prstGeom>
          <a:solidFill>
            <a:srgbClr val="F6AD55">
              <a:alpha val="27000"/>
            </a:srgbClr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27448" y="2862072"/>
            <a:ext cx="256032" cy="256032"/>
          </a:xfrm>
          <a:prstGeom prst="ellipse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27448" y="28620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74920" y="285292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6AD55"/>
                </a:solidFill>
              </a:rPr>
              <a:t>Step 4: Defuzzification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27448" y="3246120"/>
            <a:ext cx="38404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5F3"/>
                </a:solidFill>
              </a:rPr>
              <a:t>Convert fuzzy shape → crisp number (Centroid Method)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5F3"/>
                </a:solidFill>
              </a:rPr>
              <a:t>Formula: y* = ∫ y·μ(y)dy / ∫ μ(y)dy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5F3"/>
                </a:solidFill>
              </a:rPr>
              <a:t>Result: +8.5% price increase recommendation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4754880"/>
            <a:ext cx="8366760" cy="274320"/>
          </a:xfrm>
          <a:prstGeom prst="rect">
            <a:avLst/>
          </a:prstGeom>
          <a:solidFill>
            <a:srgbClr val="132438"/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754880"/>
            <a:ext cx="8366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2C39A"/>
                </a:solidFill>
              </a:rPr>
              <a:t>AND = min()  |  OR = max()  |  Implication = min()  |  Aggregation = max()  |  Defuzzification = Centroid (Center of Area)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04  |  Rule Base — Rules R1 to R10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8366760" cy="365760"/>
          </a:xfrm>
          <a:prstGeom prst="rect">
            <a:avLst/>
          </a:prstGeom>
          <a:solidFill>
            <a:srgbClr val="F8FFF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96112"/>
            <a:ext cx="50292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961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</a:rPr>
              <a:t>R1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60120" y="93268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 demand IS very_low AND margin IS very_low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355080" y="896112"/>
            <a:ext cx="594360" cy="365760"/>
          </a:xfrm>
          <a:prstGeom prst="rect">
            <a:avLst/>
          </a:prstGeom>
          <a:solidFill>
            <a:srgbClr val="008080">
              <a:alpha val="13000"/>
            </a:srgbClr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89611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8080"/>
                </a:solidFill>
              </a:rPr>
              <a:t>THEN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967728" y="896112"/>
            <a:ext cx="1755648" cy="365760"/>
          </a:xfrm>
          <a:prstGeom prst="rect">
            <a:avLst/>
          </a:prstGeom>
          <a:solidFill>
            <a:srgbClr val="E53E3E">
              <a:alpha val="20000"/>
            </a:srgbClr>
          </a:solidFill>
          <a:ln w="9525">
            <a:solidFill>
              <a:srgbClr val="E53E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67728" y="896112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53E3E"/>
                </a:solidFill>
              </a:rPr>
              <a:t>large decrease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316736"/>
            <a:ext cx="8366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316736"/>
            <a:ext cx="50292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31673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</a:rPr>
              <a:t>R2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60120" y="135331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 demand IS very_high AND margin IS very_high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355080" y="1316736"/>
            <a:ext cx="594360" cy="365760"/>
          </a:xfrm>
          <a:prstGeom prst="rect">
            <a:avLst/>
          </a:prstGeom>
          <a:solidFill>
            <a:srgbClr val="008080">
              <a:alpha val="13000"/>
            </a:srgbClr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1316736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8080"/>
                </a:solidFill>
              </a:rPr>
              <a:t>THEN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967728" y="1316736"/>
            <a:ext cx="1755648" cy="365760"/>
          </a:xfrm>
          <a:prstGeom prst="rect">
            <a:avLst/>
          </a:prstGeom>
          <a:solidFill>
            <a:srgbClr val="2DC653">
              <a:alpha val="20000"/>
            </a:srgbClr>
          </a:solidFill>
          <a:ln w="9525">
            <a:solidFill>
              <a:srgbClr val="2DC65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67728" y="1316736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C653"/>
                </a:solidFill>
              </a:rPr>
              <a:t>large increase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1737360"/>
            <a:ext cx="8366760" cy="365760"/>
          </a:xfrm>
          <a:prstGeom prst="rect">
            <a:avLst/>
          </a:prstGeom>
          <a:solidFill>
            <a:srgbClr val="F8FFF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1737360"/>
            <a:ext cx="50292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17373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</a:rPr>
              <a:t>R3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60120" y="1773936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 demand IS low AND margin IS medium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355080" y="1737360"/>
            <a:ext cx="594360" cy="365760"/>
          </a:xfrm>
          <a:prstGeom prst="rect">
            <a:avLst/>
          </a:prstGeom>
          <a:solidFill>
            <a:srgbClr val="008080">
              <a:alpha val="13000"/>
            </a:srgbClr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173736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8080"/>
                </a:solidFill>
              </a:rPr>
              <a:t>THEN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967728" y="1737360"/>
            <a:ext cx="1755648" cy="365760"/>
          </a:xfrm>
          <a:prstGeom prst="rect">
            <a:avLst/>
          </a:prstGeom>
          <a:solidFill>
            <a:srgbClr val="F56565">
              <a:alpha val="20000"/>
            </a:srgbClr>
          </a:solidFill>
          <a:ln w="9525">
            <a:solidFill>
              <a:srgbClr val="F5656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67728" y="173736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6565"/>
                </a:solidFill>
              </a:rPr>
              <a:t>small decrease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2157984"/>
            <a:ext cx="8366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2157984"/>
            <a:ext cx="50292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215798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</a:rPr>
              <a:t>R4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60120" y="219456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 demand IS high AND margin IS low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355080" y="2157984"/>
            <a:ext cx="594360" cy="365760"/>
          </a:xfrm>
          <a:prstGeom prst="rect">
            <a:avLst/>
          </a:prstGeom>
          <a:solidFill>
            <a:srgbClr val="008080">
              <a:alpha val="13000"/>
            </a:srgbClr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2157984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8080"/>
                </a:solidFill>
              </a:rPr>
              <a:t>THEN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967728" y="2157984"/>
            <a:ext cx="1755648" cy="365760"/>
          </a:xfrm>
          <a:prstGeom prst="rect">
            <a:avLst/>
          </a:prstGeom>
          <a:solidFill>
            <a:srgbClr val="68D391">
              <a:alpha val="20000"/>
            </a:srgbClr>
          </a:solidFill>
          <a:ln w="9525">
            <a:solidFill>
              <a:srgbClr val="68D39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67728" y="2157984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8D391"/>
                </a:solidFill>
              </a:rPr>
              <a:t>medium increase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2578608"/>
            <a:ext cx="8366760" cy="365760"/>
          </a:xfrm>
          <a:prstGeom prst="rect">
            <a:avLst/>
          </a:prstGeom>
          <a:solidFill>
            <a:srgbClr val="F8FFF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2578608"/>
            <a:ext cx="50292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25786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</a:rPr>
              <a:t>R5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60120" y="261518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 demand IS medium AND margin IS medium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355080" y="2578608"/>
            <a:ext cx="594360" cy="365760"/>
          </a:xfrm>
          <a:prstGeom prst="rect">
            <a:avLst/>
          </a:prstGeom>
          <a:solidFill>
            <a:srgbClr val="008080">
              <a:alpha val="13000"/>
            </a:srgbClr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55080" y="257860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8080"/>
                </a:solidFill>
              </a:rPr>
              <a:t>THEN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967728" y="2578608"/>
            <a:ext cx="1755648" cy="365760"/>
          </a:xfrm>
          <a:prstGeom prst="rect">
            <a:avLst/>
          </a:prstGeom>
          <a:solidFill>
            <a:srgbClr val="718096">
              <a:alpha val="20000"/>
            </a:srgbClr>
          </a:solidFill>
          <a:ln w="9525">
            <a:solidFill>
              <a:srgbClr val="71809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67728" y="2578608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18096"/>
                </a:solidFill>
              </a:rPr>
              <a:t>maintain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65760" y="2999232"/>
            <a:ext cx="8366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65760" y="2999232"/>
            <a:ext cx="50292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299923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</a:rPr>
              <a:t>R6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960120" y="303580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 satisfaction IS poor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355080" y="2999232"/>
            <a:ext cx="594360" cy="365760"/>
          </a:xfrm>
          <a:prstGeom prst="rect">
            <a:avLst/>
          </a:prstGeom>
          <a:solidFill>
            <a:srgbClr val="008080">
              <a:alpha val="13000"/>
            </a:srgbClr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55080" y="299923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8080"/>
                </a:solidFill>
              </a:rPr>
              <a:t>THEN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967728" y="2999232"/>
            <a:ext cx="1755648" cy="365760"/>
          </a:xfrm>
          <a:prstGeom prst="rect">
            <a:avLst/>
          </a:prstGeom>
          <a:solidFill>
            <a:srgbClr val="FC8181">
              <a:alpha val="20000"/>
            </a:srgbClr>
          </a:solidFill>
          <a:ln w="9525">
            <a:solidFill>
              <a:srgbClr val="FC818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67728" y="2999232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C8181"/>
                </a:solidFill>
              </a:rPr>
              <a:t>medium decrease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65760" y="3419856"/>
            <a:ext cx="8366760" cy="365760"/>
          </a:xfrm>
          <a:prstGeom prst="rect">
            <a:avLst/>
          </a:prstGeom>
          <a:solidFill>
            <a:srgbClr val="F8FFF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65760" y="3419856"/>
            <a:ext cx="50292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5760" y="341985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</a:rPr>
              <a:t>R7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960120" y="345643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 satisfaction IS excellent AND demand IS high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355080" y="3419856"/>
            <a:ext cx="594360" cy="365760"/>
          </a:xfrm>
          <a:prstGeom prst="rect">
            <a:avLst/>
          </a:prstGeom>
          <a:solidFill>
            <a:srgbClr val="008080">
              <a:alpha val="13000"/>
            </a:srgbClr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55080" y="3419856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8080"/>
                </a:solidFill>
              </a:rPr>
              <a:t>THEN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967728" y="3419856"/>
            <a:ext cx="1755648" cy="365760"/>
          </a:xfrm>
          <a:prstGeom prst="rect">
            <a:avLst/>
          </a:prstGeom>
          <a:solidFill>
            <a:srgbClr val="48BB78">
              <a:alpha val="20000"/>
            </a:srgbClr>
          </a:solidFill>
          <a:ln w="9525">
            <a:solidFill>
              <a:srgbClr val="48BB7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967728" y="3419856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8BB78"/>
                </a:solidFill>
              </a:rPr>
              <a:t>medium increase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65760" y="3840480"/>
            <a:ext cx="8366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65760" y="3840480"/>
            <a:ext cx="50292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65760" y="38404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</a:rPr>
              <a:t>R8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960120" y="3877056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 satisfaction IS average AND margin IS low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355080" y="3840480"/>
            <a:ext cx="594360" cy="365760"/>
          </a:xfrm>
          <a:prstGeom prst="rect">
            <a:avLst/>
          </a:prstGeom>
          <a:solidFill>
            <a:srgbClr val="008080">
              <a:alpha val="13000"/>
            </a:srgbClr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355080" y="384048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8080"/>
                </a:solidFill>
              </a:rPr>
              <a:t>THEN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6967728" y="3840480"/>
            <a:ext cx="1755648" cy="365760"/>
          </a:xfrm>
          <a:prstGeom prst="rect">
            <a:avLst/>
          </a:prstGeom>
          <a:solidFill>
            <a:srgbClr val="9AE6B4">
              <a:alpha val="20000"/>
            </a:srgbClr>
          </a:solidFill>
          <a:ln w="9525">
            <a:solidFill>
              <a:srgbClr val="9AE6B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967728" y="384048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E6B4"/>
                </a:solidFill>
              </a:rPr>
              <a:t>small increase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365760" y="4261104"/>
            <a:ext cx="8366760" cy="365760"/>
          </a:xfrm>
          <a:prstGeom prst="rect">
            <a:avLst/>
          </a:prstGeom>
          <a:solidFill>
            <a:srgbClr val="F8FFF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65760" y="4261104"/>
            <a:ext cx="50292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65760" y="426110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</a:rPr>
              <a:t>R9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960120" y="429768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 satisfaction IS good AND demand IS very_high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6355080" y="4261104"/>
            <a:ext cx="594360" cy="365760"/>
          </a:xfrm>
          <a:prstGeom prst="rect">
            <a:avLst/>
          </a:prstGeom>
          <a:solidFill>
            <a:srgbClr val="008080">
              <a:alpha val="13000"/>
            </a:srgbClr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355080" y="4261104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8080"/>
                </a:solidFill>
              </a:rPr>
              <a:t>THEN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6967728" y="4261104"/>
            <a:ext cx="1755648" cy="365760"/>
          </a:xfrm>
          <a:prstGeom prst="rect">
            <a:avLst/>
          </a:prstGeom>
          <a:solidFill>
            <a:srgbClr val="2DC653">
              <a:alpha val="20000"/>
            </a:srgbClr>
          </a:solidFill>
          <a:ln w="9525">
            <a:solidFill>
              <a:srgbClr val="2DC653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967728" y="4261104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C653"/>
                </a:solidFill>
              </a:rPr>
              <a:t>large increase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365760" y="4681728"/>
            <a:ext cx="8366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65760" y="4681728"/>
            <a:ext cx="50292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65760" y="468172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</a:rPr>
              <a:t>R10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960120" y="471830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 satisfaction IS excellent AND margin IS very_high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6355080" y="4681728"/>
            <a:ext cx="594360" cy="365760"/>
          </a:xfrm>
          <a:prstGeom prst="rect">
            <a:avLst/>
          </a:prstGeom>
          <a:solidFill>
            <a:srgbClr val="008080">
              <a:alpha val="13000"/>
            </a:srgbClr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355080" y="468172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8080"/>
                </a:solidFill>
              </a:rPr>
              <a:t>THEN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6967728" y="4681728"/>
            <a:ext cx="1755648" cy="365760"/>
          </a:xfrm>
          <a:prstGeom prst="rect">
            <a:avLst/>
          </a:prstGeom>
          <a:solidFill>
            <a:srgbClr val="718096">
              <a:alpha val="20000"/>
            </a:srgbClr>
          </a:solidFill>
          <a:ln w="9525">
            <a:solidFill>
              <a:srgbClr val="718096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967728" y="4681728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18096"/>
                </a:solidFill>
              </a:rPr>
              <a:t>maintain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04  |  Rule Base — Rules R11 to R18 + Categories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8366760" cy="365760"/>
          </a:xfrm>
          <a:prstGeom prst="rect">
            <a:avLst/>
          </a:prstGeom>
          <a:solidFill>
            <a:srgbClr val="F8FFF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96112"/>
            <a:ext cx="50292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961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</a:rPr>
              <a:t>R11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60120" y="93268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 competition IS high AND demand IS low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355080" y="896112"/>
            <a:ext cx="594360" cy="365760"/>
          </a:xfrm>
          <a:prstGeom prst="rect">
            <a:avLst/>
          </a:prstGeom>
          <a:solidFill>
            <a:srgbClr val="008080">
              <a:alpha val="13000"/>
            </a:srgbClr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89611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8080"/>
                </a:solidFill>
              </a:rPr>
              <a:t>THEN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967728" y="896112"/>
            <a:ext cx="1755648" cy="365760"/>
          </a:xfrm>
          <a:prstGeom prst="rect">
            <a:avLst/>
          </a:prstGeom>
          <a:solidFill>
            <a:srgbClr val="E53E3E">
              <a:alpha val="20000"/>
            </a:srgbClr>
          </a:solidFill>
          <a:ln w="9525">
            <a:solidFill>
              <a:srgbClr val="E53E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67728" y="896112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53E3E"/>
                </a:solidFill>
              </a:rPr>
              <a:t>large decrease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316736"/>
            <a:ext cx="8366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316736"/>
            <a:ext cx="50292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31673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</a:rPr>
              <a:t>R12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60120" y="135331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 competition IS low AND demand IS high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355080" y="1316736"/>
            <a:ext cx="594360" cy="365760"/>
          </a:xfrm>
          <a:prstGeom prst="rect">
            <a:avLst/>
          </a:prstGeom>
          <a:solidFill>
            <a:srgbClr val="008080">
              <a:alpha val="13000"/>
            </a:srgbClr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1316736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8080"/>
                </a:solidFill>
              </a:rPr>
              <a:t>THEN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967728" y="1316736"/>
            <a:ext cx="1755648" cy="365760"/>
          </a:xfrm>
          <a:prstGeom prst="rect">
            <a:avLst/>
          </a:prstGeom>
          <a:solidFill>
            <a:srgbClr val="2DC653">
              <a:alpha val="20000"/>
            </a:srgbClr>
          </a:solidFill>
          <a:ln w="9525">
            <a:solidFill>
              <a:srgbClr val="2DC65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67728" y="1316736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C653"/>
                </a:solidFill>
              </a:rPr>
              <a:t>large increase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1737360"/>
            <a:ext cx="8366760" cy="365760"/>
          </a:xfrm>
          <a:prstGeom prst="rect">
            <a:avLst/>
          </a:prstGeom>
          <a:solidFill>
            <a:srgbClr val="F8FFF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1737360"/>
            <a:ext cx="50292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17373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</a:rPr>
              <a:t>R13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60120" y="1773936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 competition IS medium AND margin IS medium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355080" y="1737360"/>
            <a:ext cx="594360" cy="365760"/>
          </a:xfrm>
          <a:prstGeom prst="rect">
            <a:avLst/>
          </a:prstGeom>
          <a:solidFill>
            <a:srgbClr val="008080">
              <a:alpha val="13000"/>
            </a:srgbClr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173736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8080"/>
                </a:solidFill>
              </a:rPr>
              <a:t>THEN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967728" y="1737360"/>
            <a:ext cx="1755648" cy="365760"/>
          </a:xfrm>
          <a:prstGeom prst="rect">
            <a:avLst/>
          </a:prstGeom>
          <a:solidFill>
            <a:srgbClr val="718096">
              <a:alpha val="20000"/>
            </a:srgbClr>
          </a:solidFill>
          <a:ln w="9525">
            <a:solidFill>
              <a:srgbClr val="7180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67728" y="173736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18096"/>
                </a:solidFill>
              </a:rPr>
              <a:t>maintain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2157984"/>
            <a:ext cx="8366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2157984"/>
            <a:ext cx="50292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215798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</a:rPr>
              <a:t>R14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60120" y="219456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 seasonality IS peak_season AND demand IS high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355080" y="2157984"/>
            <a:ext cx="594360" cy="365760"/>
          </a:xfrm>
          <a:prstGeom prst="rect">
            <a:avLst/>
          </a:prstGeom>
          <a:solidFill>
            <a:srgbClr val="008080">
              <a:alpha val="13000"/>
            </a:srgbClr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2157984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8080"/>
                </a:solidFill>
              </a:rPr>
              <a:t>THEN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967728" y="2157984"/>
            <a:ext cx="1755648" cy="365760"/>
          </a:xfrm>
          <a:prstGeom prst="rect">
            <a:avLst/>
          </a:prstGeom>
          <a:solidFill>
            <a:srgbClr val="2DC653">
              <a:alpha val="20000"/>
            </a:srgbClr>
          </a:solidFill>
          <a:ln w="9525">
            <a:solidFill>
              <a:srgbClr val="2DC65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67728" y="2157984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C653"/>
                </a:solidFill>
              </a:rPr>
              <a:t>large increase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2578608"/>
            <a:ext cx="8366760" cy="365760"/>
          </a:xfrm>
          <a:prstGeom prst="rect">
            <a:avLst/>
          </a:prstGeom>
          <a:solidFill>
            <a:srgbClr val="F8FFF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2578608"/>
            <a:ext cx="50292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25786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</a:rPr>
              <a:t>R15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60120" y="261518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 seasonality IS off_season AND competition IS high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355080" y="2578608"/>
            <a:ext cx="594360" cy="365760"/>
          </a:xfrm>
          <a:prstGeom prst="rect">
            <a:avLst/>
          </a:prstGeom>
          <a:solidFill>
            <a:srgbClr val="008080">
              <a:alpha val="13000"/>
            </a:srgbClr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55080" y="257860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8080"/>
                </a:solidFill>
              </a:rPr>
              <a:t>THEN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967728" y="2578608"/>
            <a:ext cx="1755648" cy="365760"/>
          </a:xfrm>
          <a:prstGeom prst="rect">
            <a:avLst/>
          </a:prstGeom>
          <a:solidFill>
            <a:srgbClr val="E53E3E">
              <a:alpha val="20000"/>
            </a:srgbClr>
          </a:solidFill>
          <a:ln w="9525">
            <a:solidFill>
              <a:srgbClr val="E53E3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67728" y="2578608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53E3E"/>
                </a:solidFill>
              </a:rPr>
              <a:t>large decrease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65760" y="2999232"/>
            <a:ext cx="8366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65760" y="2999232"/>
            <a:ext cx="50292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299923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</a:rPr>
              <a:t>R16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960120" y="303580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 seasonality IS normal AND margin IS medium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355080" y="2999232"/>
            <a:ext cx="594360" cy="365760"/>
          </a:xfrm>
          <a:prstGeom prst="rect">
            <a:avLst/>
          </a:prstGeom>
          <a:solidFill>
            <a:srgbClr val="008080">
              <a:alpha val="13000"/>
            </a:srgbClr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55080" y="299923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8080"/>
                </a:solidFill>
              </a:rPr>
              <a:t>THEN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967728" y="2999232"/>
            <a:ext cx="1755648" cy="365760"/>
          </a:xfrm>
          <a:prstGeom prst="rect">
            <a:avLst/>
          </a:prstGeom>
          <a:solidFill>
            <a:srgbClr val="718096">
              <a:alpha val="20000"/>
            </a:srgbClr>
          </a:solidFill>
          <a:ln w="9525">
            <a:solidFill>
              <a:srgbClr val="71809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67728" y="2999232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18096"/>
                </a:solidFill>
              </a:rPr>
              <a:t>maintain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65760" y="3419856"/>
            <a:ext cx="8366760" cy="365760"/>
          </a:xfrm>
          <a:prstGeom prst="rect">
            <a:avLst/>
          </a:prstGeom>
          <a:solidFill>
            <a:srgbClr val="F8FFF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65760" y="3419856"/>
            <a:ext cx="50292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5760" y="341985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</a:rPr>
              <a:t>R17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960120" y="345643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 demand IS high AND margin IS high AND satisfaction IS excellent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355080" y="3419856"/>
            <a:ext cx="594360" cy="365760"/>
          </a:xfrm>
          <a:prstGeom prst="rect">
            <a:avLst/>
          </a:prstGeom>
          <a:solidFill>
            <a:srgbClr val="008080">
              <a:alpha val="13000"/>
            </a:srgbClr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55080" y="3419856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8080"/>
                </a:solidFill>
              </a:rPr>
              <a:t>THEN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967728" y="3419856"/>
            <a:ext cx="1755648" cy="365760"/>
          </a:xfrm>
          <a:prstGeom prst="rect">
            <a:avLst/>
          </a:prstGeom>
          <a:solidFill>
            <a:srgbClr val="2DC653">
              <a:alpha val="20000"/>
            </a:srgbClr>
          </a:solidFill>
          <a:ln w="9525">
            <a:solidFill>
              <a:srgbClr val="2DC65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967728" y="3419856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C653"/>
                </a:solidFill>
              </a:rPr>
              <a:t>large increase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65760" y="3840480"/>
            <a:ext cx="8366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65760" y="3840480"/>
            <a:ext cx="50292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65760" y="38404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</a:rPr>
              <a:t>R18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960120" y="3877056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 demand IS low AND margin IS low AND satisfaction IS poor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355080" y="3840480"/>
            <a:ext cx="594360" cy="365760"/>
          </a:xfrm>
          <a:prstGeom prst="rect">
            <a:avLst/>
          </a:prstGeom>
          <a:solidFill>
            <a:srgbClr val="008080">
              <a:alpha val="13000"/>
            </a:srgbClr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355080" y="384048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8080"/>
                </a:solidFill>
              </a:rPr>
              <a:t>THEN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6967728" y="3840480"/>
            <a:ext cx="1755648" cy="365760"/>
          </a:xfrm>
          <a:prstGeom prst="rect">
            <a:avLst/>
          </a:prstGeom>
          <a:solidFill>
            <a:srgbClr val="E53E3E">
              <a:alpha val="20000"/>
            </a:srgbClr>
          </a:solidFill>
          <a:ln w="9525">
            <a:solidFill>
              <a:srgbClr val="E53E3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967728" y="384048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53E3E"/>
                </a:solidFill>
              </a:rPr>
              <a:t>large decrease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365760" y="4370832"/>
            <a:ext cx="8366760" cy="502920"/>
          </a:xfrm>
          <a:prstGeom prst="rect">
            <a:avLst/>
          </a:prstGeom>
          <a:solidFill>
            <a:srgbClr val="132438"/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48640" y="4462272"/>
            <a:ext cx="128016" cy="12801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13232" y="44256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F5F3"/>
                </a:solidFill>
              </a:rPr>
              <a:t>R1–R5: Demand + Margin Rules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2212848" y="4462272"/>
            <a:ext cx="128016" cy="12801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377440" y="44256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F5F3"/>
                </a:solidFill>
              </a:rPr>
              <a:t>R6–R10: Satisfaction Rules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3877056" y="4462272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041648" y="44256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F5F3"/>
                </a:solidFill>
              </a:rPr>
              <a:t>R11–R13: Competition Rules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5541264" y="4462272"/>
            <a:ext cx="128016" cy="128016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705856" y="44256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F5F3"/>
                </a:solidFill>
              </a:rPr>
              <a:t>R14–R16: Seasonality Rules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7205472" y="4462272"/>
            <a:ext cx="128016" cy="128016"/>
          </a:xfrm>
          <a:prstGeom prst="ellipse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370064" y="44256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F5F3"/>
                </a:solidFill>
              </a:rPr>
              <a:t>R17–R18: Multi-Factor Rules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05  |  Genetic Algorithm — What Is It?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612648"/>
            <a:ext cx="1828800" cy="3657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4980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</a:rPr>
              <a:t>Inspired by Darwin's Theory of Evolution — Survival of the Fittest Pricing Strategy!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2697480" cy="1371600"/>
          </a:xfrm>
          <a:prstGeom prst="rect">
            <a:avLst/>
          </a:prstGeom>
          <a:solidFill>
            <a:srgbClr val="132438"/>
          </a:solidFill>
          <a:ln w="15240">
            <a:solidFill>
              <a:srgbClr val="0891B2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88720"/>
            <a:ext cx="2697480" cy="411480"/>
          </a:xfrm>
          <a:prstGeom prst="rect">
            <a:avLst/>
          </a:prstGeom>
          <a:solidFill>
            <a:srgbClr val="0891B2">
              <a:alpha val="33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43584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891B2"/>
                </a:solidFill>
              </a:rPr>
              <a:t>🧬 Population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1709928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5F3"/>
                </a:solidFill>
              </a:rPr>
              <a:t>100 pricing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5F3"/>
                </a:solidFill>
              </a:rPr>
              <a:t>strategies (chromosomes)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81528" y="173736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18688" y="1188720"/>
            <a:ext cx="2697480" cy="1371600"/>
          </a:xfrm>
          <a:prstGeom prst="rect">
            <a:avLst/>
          </a:prstGeom>
          <a:solidFill>
            <a:srgbClr val="132438"/>
          </a:solidFill>
          <a:ln w="15240">
            <a:solidFill>
              <a:srgbClr val="D9770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18688" y="1188720"/>
            <a:ext cx="2697480" cy="411480"/>
          </a:xfrm>
          <a:prstGeom prst="rect">
            <a:avLst/>
          </a:prstGeom>
          <a:solidFill>
            <a:srgbClr val="D97706">
              <a:alpha val="33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18688" y="1243584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97706"/>
                </a:solidFill>
              </a:rPr>
              <a:t>📊 Evaluate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10128" y="1709928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5F3"/>
                </a:solidFill>
              </a:rPr>
              <a:t>Test fitness of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5F3"/>
                </a:solidFill>
              </a:rPr>
              <a:t>each strategy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34456" y="173736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71616" y="1188720"/>
            <a:ext cx="2697480" cy="1371600"/>
          </a:xfrm>
          <a:prstGeom prst="rect">
            <a:avLst/>
          </a:prstGeom>
          <a:solidFill>
            <a:srgbClr val="132438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71616" y="1188720"/>
            <a:ext cx="2697480" cy="411480"/>
          </a:xfrm>
          <a:prstGeom prst="rect">
            <a:avLst/>
          </a:prstGeom>
          <a:solidFill>
            <a:srgbClr val="7C3AED">
              <a:alpha val="33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71616" y="1243584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C3AED"/>
                </a:solidFill>
              </a:rPr>
              <a:t>🏆 Select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163056" y="1709928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5F3"/>
                </a:solidFill>
              </a:rPr>
              <a:t>Tournament selection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5F3"/>
                </a:solidFill>
              </a:rPr>
              <a:t>keep the best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51776" y="257860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▼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743200"/>
            <a:ext cx="2697480" cy="1371600"/>
          </a:xfrm>
          <a:prstGeom prst="rect">
            <a:avLst/>
          </a:prstGeom>
          <a:solidFill>
            <a:srgbClr val="132438"/>
          </a:solidFill>
          <a:ln w="15240">
            <a:solidFill>
              <a:srgbClr val="00808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743200"/>
            <a:ext cx="2697480" cy="411480"/>
          </a:xfrm>
          <a:prstGeom prst="rect">
            <a:avLst/>
          </a:prstGeom>
          <a:solidFill>
            <a:srgbClr val="008080">
              <a:alpha val="33000"/>
            </a:srgbClr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798064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8080"/>
                </a:solidFill>
              </a:rPr>
              <a:t>🔀 Crossover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3264408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5F3"/>
                </a:solidFill>
              </a:rPr>
              <a:t>Mix 2 parents →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5F3"/>
                </a:solidFill>
              </a:rPr>
              <a:t>new child strategy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081528" y="32918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18688" y="2743200"/>
            <a:ext cx="2697480" cy="1371600"/>
          </a:xfrm>
          <a:prstGeom prst="rect">
            <a:avLst/>
          </a:prstGeom>
          <a:solidFill>
            <a:srgbClr val="132438"/>
          </a:solidFill>
          <a:ln w="15240">
            <a:solidFill>
              <a:srgbClr val="F6AD55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18688" y="2743200"/>
            <a:ext cx="2697480" cy="411480"/>
          </a:xfrm>
          <a:prstGeom prst="rect">
            <a:avLst/>
          </a:prstGeom>
          <a:solidFill>
            <a:srgbClr val="F6AD55">
              <a:alpha val="33000"/>
            </a:srgbClr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18688" y="2798064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6AD55"/>
                </a:solidFill>
              </a:rPr>
              <a:t>🔬 Mutate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310128" y="3264408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5F3"/>
                </a:solidFill>
              </a:rPr>
              <a:t>Random tweak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5F3"/>
                </a:solidFill>
              </a:rPr>
              <a:t>(10% chance)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34456" y="32918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71616" y="2743200"/>
            <a:ext cx="2697480" cy="1371600"/>
          </a:xfrm>
          <a:prstGeom prst="rect">
            <a:avLst/>
          </a:prstGeom>
          <a:solidFill>
            <a:srgbClr val="132438"/>
          </a:solidFill>
          <a:ln w="15240">
            <a:solidFill>
              <a:srgbClr val="2DC653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71616" y="2743200"/>
            <a:ext cx="2697480" cy="411480"/>
          </a:xfrm>
          <a:prstGeom prst="rect">
            <a:avLst/>
          </a:prstGeom>
          <a:solidFill>
            <a:srgbClr val="2DC653">
              <a:alpha val="33000"/>
            </a:srgbClr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71616" y="2798064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DC653"/>
                </a:solidFill>
              </a:rPr>
              <a:t>✅ Converge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163056" y="3264408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5F3"/>
                </a:solidFill>
              </a:rPr>
              <a:t>Best strategy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5F3"/>
                </a:solidFill>
              </a:rPr>
              <a:t>after 100 generations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4663440"/>
            <a:ext cx="8366760" cy="292608"/>
          </a:xfrm>
          <a:prstGeom prst="rect">
            <a:avLst/>
          </a:prstGeom>
          <a:solidFill>
            <a:srgbClr val="0D2B1F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663440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C653"/>
                </a:solidFill>
              </a:rPr>
              <a:t>Population: 100  |  Generations: 100  |  Crossover Rate: 80%  |  Mutation Rate: 10%  |  Elite Count: 5  |  Tournament Size: 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05  |  GA Chromosome — 8 Optimized Parameters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9611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572"/>
                </a:solidFill>
              </a:rPr>
              <a:t>Each 'chromosome' = one complete pricing strategy with 8 genes (parameters):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00584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417320" y="1188720"/>
            <a:ext cx="1005840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11887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68880" y="1188720"/>
            <a:ext cx="100584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11887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P3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20440" y="1188720"/>
            <a:ext cx="1005840" cy="41148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1887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P4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1188720"/>
            <a:ext cx="1005840" cy="411480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1887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23560" y="1188720"/>
            <a:ext cx="1005840" cy="41148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23560" y="11887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P6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75120" y="1188720"/>
            <a:ext cx="1005840" cy="4114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11887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P7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26680" y="1188720"/>
            <a:ext cx="1005840" cy="411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26680" y="11887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P8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1737360"/>
            <a:ext cx="347472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173736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2C39A"/>
                </a:solidFill>
              </a:rPr>
              <a:t>#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13232" y="1737360"/>
            <a:ext cx="173736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1737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2C39A"/>
                </a:solidFill>
              </a:rPr>
              <a:t>Parameter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450592" y="1737360"/>
            <a:ext cx="96012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50592" y="17373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2C39A"/>
                </a:solidFill>
              </a:rPr>
              <a:t>Range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410712" y="1737360"/>
            <a:ext cx="59436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10712" y="17373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2C39A"/>
                </a:solidFill>
              </a:rPr>
              <a:t>Type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005072" y="1737360"/>
            <a:ext cx="397764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05072" y="17373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2C39A"/>
                </a:solidFill>
              </a:rPr>
              <a:t>Plain English Meaning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5760" y="2011680"/>
            <a:ext cx="347472" cy="356616"/>
          </a:xfrm>
          <a:prstGeom prst="rect">
            <a:avLst/>
          </a:prstGeom>
          <a:solidFill>
            <a:srgbClr val="EAF7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2011680"/>
            <a:ext cx="347472" cy="35661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2011680"/>
            <a:ext cx="3474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P1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13232" y="2011680"/>
            <a:ext cx="1737360" cy="356616"/>
          </a:xfrm>
          <a:prstGeom prst="rect">
            <a:avLst/>
          </a:prstGeom>
          <a:solidFill>
            <a:srgbClr val="EAF7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232" y="2011680"/>
            <a:ext cx="173736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D1B2A"/>
                </a:solidFill>
              </a:rPr>
              <a:t>price_multiplier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450592" y="2011680"/>
            <a:ext cx="960120" cy="356616"/>
          </a:xfrm>
          <a:prstGeom prst="rect">
            <a:avLst/>
          </a:prstGeom>
          <a:solidFill>
            <a:srgbClr val="EAF7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50592" y="2011680"/>
            <a:ext cx="96012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D1B2A"/>
                </a:solidFill>
              </a:rPr>
              <a:t>[0.7, 1.5]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410712" y="2011680"/>
            <a:ext cx="594360" cy="356616"/>
          </a:xfrm>
          <a:prstGeom prst="rect">
            <a:avLst/>
          </a:prstGeom>
          <a:solidFill>
            <a:srgbClr val="EAF7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10712" y="2011680"/>
            <a:ext cx="59436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D1B2A"/>
                </a:solidFill>
              </a:rPr>
              <a:t>Float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005072" y="2011680"/>
            <a:ext cx="3977640" cy="356616"/>
          </a:xfrm>
          <a:prstGeom prst="rect">
            <a:avLst/>
          </a:prstGeom>
          <a:solidFill>
            <a:srgbClr val="EAF7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05072" y="2011680"/>
            <a:ext cx="397764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D1B2A"/>
                </a:solidFill>
              </a:rPr>
              <a:t>Base price scaling — how aggressively to raise/lower base price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65760" y="2368296"/>
            <a:ext cx="347472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2368296"/>
            <a:ext cx="347472" cy="35661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2368296"/>
            <a:ext cx="3474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P2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13232" y="2368296"/>
            <a:ext cx="173736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3232" y="2368296"/>
            <a:ext cx="173736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D1B2A"/>
                </a:solidFill>
              </a:rPr>
              <a:t>demand_elasticity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450592" y="2368296"/>
            <a:ext cx="96012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450592" y="2368296"/>
            <a:ext cx="96012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D1B2A"/>
                </a:solidFill>
              </a:rPr>
              <a:t>[-2.0, -0.1]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410712" y="2368296"/>
            <a:ext cx="59436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10712" y="2368296"/>
            <a:ext cx="59436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D1B2A"/>
                </a:solidFill>
              </a:rPr>
              <a:t>Float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005072" y="2368296"/>
            <a:ext cx="39776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005072" y="2368296"/>
            <a:ext cx="397764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D1B2A"/>
                </a:solidFill>
              </a:rPr>
              <a:t>Price-demand sensitivity — how customers react to price changes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65760" y="2724912"/>
            <a:ext cx="347472" cy="356616"/>
          </a:xfrm>
          <a:prstGeom prst="rect">
            <a:avLst/>
          </a:prstGeom>
          <a:solidFill>
            <a:srgbClr val="EAF7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65760" y="2724912"/>
            <a:ext cx="347472" cy="3566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2724912"/>
            <a:ext cx="3474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P3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13232" y="2724912"/>
            <a:ext cx="1737360" cy="356616"/>
          </a:xfrm>
          <a:prstGeom prst="rect">
            <a:avLst/>
          </a:prstGeom>
          <a:solidFill>
            <a:srgbClr val="EAF7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13232" y="2724912"/>
            <a:ext cx="173736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D1B2A"/>
                </a:solidFill>
              </a:rPr>
              <a:t>satisfaction_weight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450592" y="2724912"/>
            <a:ext cx="960120" cy="356616"/>
          </a:xfrm>
          <a:prstGeom prst="rect">
            <a:avLst/>
          </a:prstGeom>
          <a:solidFill>
            <a:srgbClr val="EAF7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450592" y="2724912"/>
            <a:ext cx="96012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D1B2A"/>
                </a:solidFill>
              </a:rPr>
              <a:t>[0.1, 0.5]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410712" y="2724912"/>
            <a:ext cx="594360" cy="356616"/>
          </a:xfrm>
          <a:prstGeom prst="rect">
            <a:avLst/>
          </a:prstGeom>
          <a:solidFill>
            <a:srgbClr val="EAF7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410712" y="2724912"/>
            <a:ext cx="59436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D1B2A"/>
                </a:solidFill>
              </a:rPr>
              <a:t>Float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005072" y="2724912"/>
            <a:ext cx="3977640" cy="356616"/>
          </a:xfrm>
          <a:prstGeom prst="rect">
            <a:avLst/>
          </a:prstGeom>
          <a:solidFill>
            <a:srgbClr val="EAF7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005072" y="2724912"/>
            <a:ext cx="397764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D1B2A"/>
                </a:solidFill>
              </a:rPr>
              <a:t>How much customer happiness (satisfaction) influences the price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365760" y="3081528"/>
            <a:ext cx="347472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65760" y="3081528"/>
            <a:ext cx="347472" cy="356616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65760" y="3081528"/>
            <a:ext cx="3474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P4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713232" y="3081528"/>
            <a:ext cx="173736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13232" y="3081528"/>
            <a:ext cx="173736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D1B2A"/>
                </a:solidFill>
              </a:rPr>
              <a:t>competition_factor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2450592" y="3081528"/>
            <a:ext cx="96012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450592" y="3081528"/>
            <a:ext cx="96012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D1B2A"/>
                </a:solidFill>
              </a:rPr>
              <a:t>[0.5, 1.5]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3410712" y="3081528"/>
            <a:ext cx="59436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410712" y="3081528"/>
            <a:ext cx="59436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D1B2A"/>
                </a:solidFill>
              </a:rPr>
              <a:t>Float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4005072" y="3081528"/>
            <a:ext cx="39776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005072" y="3081528"/>
            <a:ext cx="397764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D1B2A"/>
                </a:solidFill>
              </a:rPr>
              <a:t>How strongly to react to competitor pricing nearby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365760" y="3438144"/>
            <a:ext cx="347472" cy="356616"/>
          </a:xfrm>
          <a:prstGeom prst="rect">
            <a:avLst/>
          </a:prstGeom>
          <a:solidFill>
            <a:srgbClr val="EAF7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65760" y="3438144"/>
            <a:ext cx="347472" cy="356616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65760" y="3438144"/>
            <a:ext cx="3474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P5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713232" y="3438144"/>
            <a:ext cx="1737360" cy="356616"/>
          </a:xfrm>
          <a:prstGeom prst="rect">
            <a:avLst/>
          </a:prstGeom>
          <a:solidFill>
            <a:srgbClr val="EAF7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13232" y="3438144"/>
            <a:ext cx="173736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D1B2A"/>
                </a:solidFill>
              </a:rPr>
              <a:t>seasonal_adjustment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2450592" y="3438144"/>
            <a:ext cx="960120" cy="356616"/>
          </a:xfrm>
          <a:prstGeom prst="rect">
            <a:avLst/>
          </a:prstGeom>
          <a:solidFill>
            <a:srgbClr val="EAF7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450592" y="3438144"/>
            <a:ext cx="96012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D1B2A"/>
                </a:solidFill>
              </a:rPr>
              <a:t>[0.8, 1.3]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3410712" y="3438144"/>
            <a:ext cx="594360" cy="356616"/>
          </a:xfrm>
          <a:prstGeom prst="rect">
            <a:avLst/>
          </a:prstGeom>
          <a:solidFill>
            <a:srgbClr val="EAF7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410712" y="3438144"/>
            <a:ext cx="59436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D1B2A"/>
                </a:solidFill>
              </a:rPr>
              <a:t>Float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4005072" y="3438144"/>
            <a:ext cx="3977640" cy="356616"/>
          </a:xfrm>
          <a:prstGeom prst="rect">
            <a:avLst/>
          </a:prstGeom>
          <a:solidFill>
            <a:srgbClr val="EAF7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005072" y="3438144"/>
            <a:ext cx="397764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D1B2A"/>
                </a:solidFill>
              </a:rPr>
              <a:t>How much to adjust pricing for seasonal peaks/off-season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365760" y="3794760"/>
            <a:ext cx="347472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65760" y="3794760"/>
            <a:ext cx="347472" cy="35661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65760" y="3794760"/>
            <a:ext cx="3474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P6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713232" y="3794760"/>
            <a:ext cx="173736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13232" y="3794760"/>
            <a:ext cx="173736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D1B2A"/>
                </a:solidFill>
              </a:rPr>
              <a:t>profit_margin_target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2450592" y="3794760"/>
            <a:ext cx="96012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450592" y="3794760"/>
            <a:ext cx="96012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D1B2A"/>
                </a:solidFill>
              </a:rPr>
              <a:t>[0.15, 0.60]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3410712" y="3794760"/>
            <a:ext cx="59436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410712" y="3794760"/>
            <a:ext cx="59436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D1B2A"/>
                </a:solidFill>
              </a:rPr>
              <a:t>Float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4005072" y="3794760"/>
            <a:ext cx="39776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005072" y="3794760"/>
            <a:ext cx="397764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D1B2A"/>
                </a:solidFill>
              </a:rPr>
              <a:t>Target profit % the system aims to achieve (15%–60%)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365760" y="4151376"/>
            <a:ext cx="347472" cy="356616"/>
          </a:xfrm>
          <a:prstGeom prst="rect">
            <a:avLst/>
          </a:prstGeom>
          <a:solidFill>
            <a:srgbClr val="EAF7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65760" y="4151376"/>
            <a:ext cx="347472" cy="35661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365760" y="4151376"/>
            <a:ext cx="3474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P7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713232" y="4151376"/>
            <a:ext cx="1737360" cy="356616"/>
          </a:xfrm>
          <a:prstGeom prst="rect">
            <a:avLst/>
          </a:prstGeom>
          <a:solidFill>
            <a:srgbClr val="EAF7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13232" y="4151376"/>
            <a:ext cx="173736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D1B2A"/>
                </a:solidFill>
              </a:rPr>
              <a:t>risk_tolerance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2450592" y="4151376"/>
            <a:ext cx="960120" cy="356616"/>
          </a:xfrm>
          <a:prstGeom prst="rect">
            <a:avLst/>
          </a:prstGeom>
          <a:solidFill>
            <a:srgbClr val="EAF7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2450592" y="4151376"/>
            <a:ext cx="96012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D1B2A"/>
                </a:solidFill>
              </a:rPr>
              <a:t>[0.1, 0.9]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3410712" y="4151376"/>
            <a:ext cx="594360" cy="356616"/>
          </a:xfrm>
          <a:prstGeom prst="rect">
            <a:avLst/>
          </a:prstGeom>
          <a:solidFill>
            <a:srgbClr val="EAF7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410712" y="4151376"/>
            <a:ext cx="59436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D1B2A"/>
                </a:solidFill>
              </a:rPr>
              <a:t>Float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4005072" y="4151376"/>
            <a:ext cx="3977640" cy="356616"/>
          </a:xfrm>
          <a:prstGeom prst="rect">
            <a:avLst/>
          </a:prstGeom>
          <a:solidFill>
            <a:srgbClr val="EAF7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005072" y="4151376"/>
            <a:ext cx="397764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D1B2A"/>
                </a:solidFill>
              </a:rPr>
              <a:t>How bold or conservative the pricing strategy should be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365760" y="4507992"/>
            <a:ext cx="347472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65760" y="4507992"/>
            <a:ext cx="347472" cy="35661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65760" y="4507992"/>
            <a:ext cx="3474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P8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713232" y="4507992"/>
            <a:ext cx="173736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713232" y="4507992"/>
            <a:ext cx="173736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D1B2A"/>
                </a:solidFill>
              </a:rPr>
              <a:t>volume_sensitivity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2450592" y="4507992"/>
            <a:ext cx="96012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2450592" y="4507992"/>
            <a:ext cx="96012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D1B2A"/>
                </a:solidFill>
              </a:rPr>
              <a:t>[0.5, 2.0]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3410712" y="4507992"/>
            <a:ext cx="59436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3410712" y="4507992"/>
            <a:ext cx="59436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D1B2A"/>
                </a:solidFill>
              </a:rPr>
              <a:t>Float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4005072" y="4507992"/>
            <a:ext cx="39776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4005072" y="4507992"/>
            <a:ext cx="3977640" cy="356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D1B2A"/>
                </a:solidFill>
              </a:rPr>
              <a:t>Whether bulk buyers or high-volume sales get lower prices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05  |  GA Operators &amp; Fitness Function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4160520" cy="1463040"/>
          </a:xfrm>
          <a:prstGeom prst="rect">
            <a:avLst/>
          </a:prstGeom>
          <a:solidFill>
            <a:srgbClr val="132438"/>
          </a:solidFill>
          <a:ln w="12700">
            <a:solidFill>
              <a:srgbClr val="F6AD55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412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6AD55"/>
                </a:solidFill>
              </a:rPr>
              <a:t>🏆 Selection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13385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2C39A"/>
                </a:solidFill>
              </a:rPr>
              <a:t>Tournament Selection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138988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Pick 3 random chromosomes, keep the best one. Repeated until we have enough parents. Balances selection pressure.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681728" y="749808"/>
            <a:ext cx="4160520" cy="1463040"/>
          </a:xfrm>
          <a:prstGeom prst="rect">
            <a:avLst/>
          </a:prstGeom>
          <a:solidFill>
            <a:srgbClr val="132438"/>
          </a:solidFill>
          <a:ln w="12700">
            <a:solidFill>
              <a:srgbClr val="00808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18888" y="8412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080"/>
                </a:solidFill>
              </a:rPr>
              <a:t>🔀 Crossover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18888" y="113385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2C39A"/>
                </a:solidFill>
              </a:rPr>
              <a:t>Single-Point Crossover (80%)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818888" y="138988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Pick a random split point in chromosome. Child gets genes 1..k from Parent A, genes k+1..8 from Parent B.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322576"/>
            <a:ext cx="4160520" cy="1463040"/>
          </a:xfrm>
          <a:prstGeom prst="rect">
            <a:avLst/>
          </a:prstGeom>
          <a:solidFill>
            <a:srgbClr val="132438"/>
          </a:solidFill>
          <a:ln w="12700">
            <a:solidFill>
              <a:srgbClr val="02C39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41401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🔬 Mutation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70662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2C39A"/>
                </a:solidFill>
              </a:rPr>
              <a:t>Gaussian Mutation (10%, σ=0.1×range)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2962656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With 10% probability, randomly nudge one gene using Gaussian noise. Prevents GA from getting stuck in local optima.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81728" y="2322576"/>
            <a:ext cx="4160520" cy="1463040"/>
          </a:xfrm>
          <a:prstGeom prst="rect">
            <a:avLst/>
          </a:prstGeom>
          <a:solidFill>
            <a:srgbClr val="132438"/>
          </a:solidFill>
          <a:ln w="12700">
            <a:solidFill>
              <a:srgbClr val="2DC653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18888" y="241401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C653"/>
                </a:solidFill>
              </a:rPr>
              <a:t>👑 Elitism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18888" y="270662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2C39A"/>
                </a:solidFill>
              </a:rPr>
              <a:t>Preserve Best 5 Individuals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18888" y="2962656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Always copy the top 5 chromosomes directly to next generation. Ensures best solutions are never lost.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931920"/>
            <a:ext cx="8366760" cy="1005840"/>
          </a:xfrm>
          <a:prstGeom prst="rect">
            <a:avLst/>
          </a:prstGeom>
          <a:solidFill>
            <a:srgbClr val="0D2B1F"/>
          </a:solidFill>
          <a:ln w="15240">
            <a:solidFill>
              <a:srgbClr val="2DC653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398678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C653"/>
                </a:solidFill>
              </a:rPr>
              <a:t>🎯 Fitness Function (How good is each chromosome?)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" y="424281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Fitness = 0.5 × Profit_Score  +  0.3 × Margin_Score  +  0.2 × Satisfaction_Score  −  Stability_Penalty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451713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Profit matters most (50%) → then Margin (30%) → then Customer Satisfaction (20%) → Penalize wild swings (&gt;30% change = penalty)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06  |  Machine Learning — Demand Forecasting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690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08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406908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</a:rPr>
              <a:t>🌲 Gradient Boosting Regressor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53312"/>
            <a:ext cx="1645920" cy="256032"/>
          </a:xfrm>
          <a:prstGeom prst="rect">
            <a:avLst/>
          </a:prstGeom>
          <a:solidFill>
            <a:srgbClr val="008080">
              <a:alpha val="13000"/>
            </a:srgbClr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533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8080"/>
                </a:solidFill>
              </a:rPr>
              <a:t>n_estimators = 100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148840" y="138074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Builds 100 small trees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655064"/>
            <a:ext cx="1645920" cy="256032"/>
          </a:xfrm>
          <a:prstGeom prst="rect">
            <a:avLst/>
          </a:prstGeom>
          <a:solidFill>
            <a:srgbClr val="008080">
              <a:alpha val="13000"/>
            </a:srgbClr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65506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8080"/>
                </a:solidFill>
              </a:rPr>
              <a:t>learning_rate = 0.1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148840" y="168249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Learns slowly = avoids overfit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1956816"/>
            <a:ext cx="1645920" cy="256032"/>
          </a:xfrm>
          <a:prstGeom prst="rect">
            <a:avLst/>
          </a:prstGeom>
          <a:solidFill>
            <a:srgbClr val="008080">
              <a:alpha val="13000"/>
            </a:srgbClr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95681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8080"/>
                </a:solidFill>
              </a:rPr>
              <a:t>max_depth = 3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148840" y="198424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Shallow trees = generalizes well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2258568"/>
            <a:ext cx="1645920" cy="256032"/>
          </a:xfrm>
          <a:prstGeom prst="rect">
            <a:avLst/>
          </a:prstGeom>
          <a:solidFill>
            <a:srgbClr val="008080">
              <a:alpha val="13000"/>
            </a:srgbClr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2585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8080"/>
                </a:solidFill>
              </a:rPr>
              <a:t>Ensemble Method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148840" y="228600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Each tree corrects previous errors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2560320"/>
            <a:ext cx="1645920" cy="256032"/>
          </a:xfrm>
          <a:prstGeom prst="rect">
            <a:avLst/>
          </a:prstGeom>
          <a:solidFill>
            <a:srgbClr val="008080">
              <a:alpha val="13000"/>
            </a:srgbClr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560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8080"/>
                </a:solidFill>
              </a:rPr>
              <a:t>No GPU needed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148840" y="258775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Works on small business hardware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2862072"/>
            <a:ext cx="1645920" cy="256032"/>
          </a:xfrm>
          <a:prstGeom prst="rect">
            <a:avLst/>
          </a:prstGeom>
          <a:solidFill>
            <a:srgbClr val="008080">
              <a:alpha val="13000"/>
            </a:srgbClr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8620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8080"/>
                </a:solidFill>
              </a:rPr>
              <a:t>Non-linear patterns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148840" y="288950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Captures demand curves accurately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63440" y="914400"/>
            <a:ext cx="40690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DC653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914400"/>
            <a:ext cx="406908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91440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C653"/>
                </a:solidFill>
              </a:rPr>
              <a:t>📊 Features for Demand Forecasting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1353312"/>
            <a:ext cx="1280160" cy="256032"/>
          </a:xfrm>
          <a:prstGeom prst="rect">
            <a:avLst/>
          </a:prstGeom>
          <a:solidFill>
            <a:srgbClr val="2DC653">
              <a:alpha val="20000"/>
            </a:srgbClr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13533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DC653"/>
                </a:solidFill>
              </a:rPr>
              <a:t>Lag Features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080760" y="1371600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</a:rPr>
              <a:t>Sales from t-1, t-2, t-3 (yesterday, 2 days ago, 3 days ago)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54880" y="1655064"/>
            <a:ext cx="1280160" cy="256032"/>
          </a:xfrm>
          <a:prstGeom prst="rect">
            <a:avLst/>
          </a:prstGeom>
          <a:solidFill>
            <a:srgbClr val="2DC653">
              <a:alpha val="20000"/>
            </a:srgbClr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165506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DC653"/>
                </a:solidFill>
              </a:rPr>
              <a:t>Rolling Stats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080760" y="1673352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</a:rPr>
              <a:t>7-day moving average, 7-day standard deviation of sales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754880" y="1956816"/>
            <a:ext cx="1280160" cy="256032"/>
          </a:xfrm>
          <a:prstGeom prst="rect">
            <a:avLst/>
          </a:prstGeom>
          <a:solidFill>
            <a:srgbClr val="2DC653">
              <a:alpha val="20000"/>
            </a:srgbClr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195681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DC653"/>
                </a:solidFill>
              </a:rPr>
              <a:t>Price Signal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080760" y="1975104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</a:rPr>
              <a:t>Price change % (did we raise/lower price recently?)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54880" y="2258568"/>
            <a:ext cx="1280160" cy="256032"/>
          </a:xfrm>
          <a:prstGeom prst="rect">
            <a:avLst/>
          </a:prstGeom>
          <a:solidFill>
            <a:srgbClr val="2DC653">
              <a:alpha val="20000"/>
            </a:srgbClr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22585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DC653"/>
                </a:solidFill>
              </a:rPr>
              <a:t>Moving Avg.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080760" y="2276856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</a:rPr>
              <a:t>Smoothed trend line to remove noise from sales data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754880" y="2560320"/>
            <a:ext cx="1280160" cy="256032"/>
          </a:xfrm>
          <a:prstGeom prst="rect">
            <a:avLst/>
          </a:prstGeom>
          <a:solidFill>
            <a:srgbClr val="2DC653">
              <a:alpha val="20000"/>
            </a:srgbClr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25603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DC653"/>
                </a:solidFill>
              </a:rPr>
              <a:t>Demand Level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080760" y="2578608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</a:rPr>
              <a:t>Quantile-based demand score: 0–100% from sales volume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754880" y="2862072"/>
            <a:ext cx="1280160" cy="256032"/>
          </a:xfrm>
          <a:prstGeom prst="rect">
            <a:avLst/>
          </a:prstGeom>
          <a:solidFill>
            <a:srgbClr val="2DC653">
              <a:alpha val="20000"/>
            </a:srgbClr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0" y="28620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DC653"/>
                </a:solidFill>
              </a:rPr>
              <a:t>Profit Metrics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080760" y="2880360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</a:rPr>
              <a:t>Profit per unit, profit margin %, revenue indicators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65760" y="4114800"/>
            <a:ext cx="8366760" cy="749808"/>
          </a:xfrm>
          <a:prstGeom prst="rect">
            <a:avLst/>
          </a:prstGeom>
          <a:solidFill>
            <a:srgbClr val="132438"/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41696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</a:rPr>
              <a:t>StandardScaler Normalization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02920" y="442569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All features are normalized using StandardScaler before feeding into the model.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This ensures no single feature dominates due to different units or scales.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08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07  |  System Integration — How All 3 Connect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8366760" cy="1691640"/>
          </a:xfrm>
          <a:prstGeom prst="rect">
            <a:avLst/>
          </a:prstGeom>
          <a:solidFill>
            <a:srgbClr val="132438"/>
          </a:solidFill>
          <a:ln w="19050">
            <a:solidFill>
              <a:srgbClr val="02C39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0467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🔬 The Optimal Price Formula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1155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Optimal_Price  =  Current_Price  ×  price_multiplier  ×  ( 1  +  fuzzy_adjustment  +  demand_effect  +  satisfaction_effect  −  competition_effect )  ×  seasonal_factor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536192"/>
            <a:ext cx="8046720" cy="36576"/>
          </a:xfrm>
          <a:prstGeom prst="rect">
            <a:avLst/>
          </a:prstGeom>
          <a:solidFill>
            <a:srgbClr val="008080"/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664208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16459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price_multiplier  ← from GA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690872" y="1664208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55464" y="16459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fuzzy_adjustment  ← from Fuzzy Logic (centroid / 100)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30352" y="1883664"/>
            <a:ext cx="109728" cy="109728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" y="186537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demand_effect  ← from ML forecast (elasticity model)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90872" y="1883664"/>
            <a:ext cx="109728" cy="109728"/>
          </a:xfrm>
          <a:prstGeom prst="ellipse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55464" y="186537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satisfaction_effect  ← from customer satisfaction input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30352" y="2103120"/>
            <a:ext cx="109728" cy="109728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" y="208483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competition_effect  ← from competition intensity input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90872" y="2103120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55464" y="208483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seasonal_factor  ← from GA seasonal_adjustment gene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2834640"/>
            <a:ext cx="2715768" cy="2011680"/>
          </a:xfrm>
          <a:prstGeom prst="rect">
            <a:avLst/>
          </a:prstGeom>
          <a:solidFill>
            <a:srgbClr val="132438"/>
          </a:solidFill>
          <a:ln w="15240">
            <a:solidFill>
              <a:srgbClr val="00808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834640"/>
            <a:ext cx="2715768" cy="365760"/>
          </a:xfrm>
          <a:prstGeom prst="rect">
            <a:avLst/>
          </a:prstGeom>
          <a:solidFill>
            <a:srgbClr val="008080">
              <a:alpha val="27000"/>
            </a:srgbClr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852928"/>
            <a:ext cx="2715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8080"/>
                </a:solidFill>
              </a:rPr>
              <a:t>🧠 Fuzzy Logic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" y="3291840"/>
            <a:ext cx="24871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5F3"/>
                </a:solidFill>
              </a:rPr>
              <a:t>Handles uncertainty in market conditions. Converts 5 inputs into fuzzy sets, applies 18+ rules, outputs centroid-based price adjustment (-30% to +30%)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18688" y="2834640"/>
            <a:ext cx="2715768" cy="2011680"/>
          </a:xfrm>
          <a:prstGeom prst="rect">
            <a:avLst/>
          </a:prstGeom>
          <a:solidFill>
            <a:srgbClr val="132438"/>
          </a:solidFill>
          <a:ln w="15240">
            <a:solidFill>
              <a:srgbClr val="2DC653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18688" y="2834640"/>
            <a:ext cx="2715768" cy="365760"/>
          </a:xfrm>
          <a:prstGeom prst="rect">
            <a:avLst/>
          </a:prstGeom>
          <a:solidFill>
            <a:srgbClr val="2DC653">
              <a:alpha val="27000"/>
            </a:srgbClr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18688" y="2852928"/>
            <a:ext cx="2715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C653"/>
                </a:solidFill>
              </a:rPr>
              <a:t>🧬 Genetic Algorithm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28416" y="3291840"/>
            <a:ext cx="24871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5F3"/>
                </a:solidFill>
              </a:rPr>
              <a:t>Finds the optimal values for 8 pricing parameters over 100 generations. Evolves pricing strategy using selection, crossover, and mutation.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071616" y="2834640"/>
            <a:ext cx="2715768" cy="2011680"/>
          </a:xfrm>
          <a:prstGeom prst="rect">
            <a:avLst/>
          </a:prstGeom>
          <a:solidFill>
            <a:srgbClr val="132438"/>
          </a:solidFill>
          <a:ln w="15240">
            <a:solidFill>
              <a:srgbClr val="F6AD55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71616" y="2834640"/>
            <a:ext cx="2715768" cy="365760"/>
          </a:xfrm>
          <a:prstGeom prst="rect">
            <a:avLst/>
          </a:prstGeom>
          <a:solidFill>
            <a:srgbClr val="F6AD55">
              <a:alpha val="27000"/>
            </a:srgbClr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71616" y="2852928"/>
            <a:ext cx="2715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6AD55"/>
                </a:solidFill>
              </a:rPr>
              <a:t>📈 Machine Learning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81344" y="3291840"/>
            <a:ext cx="24871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5F3"/>
                </a:solidFill>
              </a:rPr>
              <a:t>Predicts future demand using Gradient Boosting on lag features and rolling statistics. Feeds demand_effect into the final formula.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08  |  Results &amp; Performance Metrics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1627632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2DC653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1627632" cy="7315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51560"/>
            <a:ext cx="1627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DC653"/>
                </a:solidFill>
              </a:rPr>
              <a:t>98.5%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158191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GA Convergence Rate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0040" y="1856232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6572"/>
                </a:solidFill>
              </a:rPr>
              <a:t>Reaches optimal in &lt; 80 generations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029968" y="914400"/>
            <a:ext cx="1627632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08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29968" y="914400"/>
            <a:ext cx="1627632" cy="73152"/>
          </a:xfrm>
          <a:prstGeom prst="rect">
            <a:avLst/>
          </a:prstGeom>
          <a:solidFill>
            <a:srgbClr val="008080"/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29968" y="1051560"/>
            <a:ext cx="1627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8080"/>
                </a:solidFill>
              </a:rPr>
              <a:t>0.92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029968" y="158191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F1 Score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029968" y="1856232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6572"/>
                </a:solidFill>
              </a:rPr>
              <a:t>Precision &amp; recall balanced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739896" y="914400"/>
            <a:ext cx="1627632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F6AD55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39896" y="914400"/>
            <a:ext cx="1627632" cy="73152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39896" y="1051560"/>
            <a:ext cx="1627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6AD55"/>
                </a:solidFill>
              </a:rPr>
              <a:t>2.4s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739896" y="158191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Inference Time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739896" y="1856232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6572"/>
                </a:solidFill>
              </a:rPr>
              <a:t>End-to-end per 100 products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449824" y="914400"/>
            <a:ext cx="1627632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49824" y="914400"/>
            <a:ext cx="1627632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49824" y="1051560"/>
            <a:ext cx="1627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891B2"/>
                </a:solidFill>
              </a:rPr>
              <a:t>12.3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449824" y="158191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MAE (units)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449824" y="1856232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6572"/>
                </a:solidFill>
              </a:rPr>
              <a:t>Mean Absolute Error — demand forecast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7159752" y="914400"/>
            <a:ext cx="1627632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59752" y="914400"/>
            <a:ext cx="1627632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59752" y="1051560"/>
            <a:ext cx="1627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C3AED"/>
                </a:solidFill>
              </a:rPr>
              <a:t>18.7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7159752" y="158191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RMSE (units)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159752" y="1856232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6572"/>
                </a:solidFill>
              </a:rPr>
              <a:t>Root Mean Square Error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65760" y="24871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080"/>
                </a:solidFill>
              </a:rPr>
              <a:t>System Features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2852928"/>
            <a:ext cx="41605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" y="2980944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" y="2907792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Real-time market simulation engine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09160" y="2852928"/>
            <a:ext cx="41605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18888" y="2980944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56632" y="2907792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Multi-objective optimization (profit + satisfaction)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5760" y="3328416"/>
            <a:ext cx="41605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" y="3456432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3232" y="3383280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Confidence scoring for every recommendation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09160" y="3328416"/>
            <a:ext cx="41605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18888" y="3456432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56632" y="3383280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Seasonal adjustment factors (festival/off-season)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65760" y="3803904"/>
            <a:ext cx="41605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5488" y="3931920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3232" y="3858768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AI Chatbot for pricing explanations (GPT-powered)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709160" y="3803904"/>
            <a:ext cx="41605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818888" y="3931920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56632" y="3858768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SHAP-style waterfall + radar explainability charts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65760" y="4279392"/>
            <a:ext cx="41605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75488" y="4407408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3232" y="4334256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3D scatter plots via Plotly for parameter visualization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709160" y="4279392"/>
            <a:ext cx="41605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818888" y="4407408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56632" y="4334256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CSV upload → instant automated analysis &amp; pricing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08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08  |  Real-World Impact for Micro-Businesses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4160520" cy="1234440"/>
          </a:xfrm>
          <a:prstGeom prst="rect">
            <a:avLst/>
          </a:prstGeom>
          <a:solidFill>
            <a:srgbClr val="132438"/>
          </a:solidFill>
          <a:ln w="9525">
            <a:solidFill>
              <a:srgbClr val="00808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75488" y="859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84124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Data-Driven Decisions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1133856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Replaces gut-feel pricing with scientific analysis of 5 real market factors — demand, profit, satisfaction, competition, and season.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681728" y="749808"/>
            <a:ext cx="4160520" cy="1234440"/>
          </a:xfrm>
          <a:prstGeom prst="rect">
            <a:avLst/>
          </a:prstGeom>
          <a:solidFill>
            <a:srgbClr val="132438"/>
          </a:solidFill>
          <a:ln w="9525">
            <a:solidFill>
              <a:srgbClr val="00808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91456" y="859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367528" y="84124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Automated Market Analysis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67528" y="1133856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System continuously monitors market conditions and suggests adjustments without requiring any technical knowledge from the business owner.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749808"/>
            <a:ext cx="4160520" cy="1234440"/>
          </a:xfrm>
          <a:prstGeom prst="rect">
            <a:avLst/>
          </a:prstGeom>
          <a:solidFill>
            <a:srgbClr val="132438"/>
          </a:solidFill>
          <a:ln w="9525">
            <a:solidFill>
              <a:srgbClr val="00808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" y="859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51560" y="84124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Risk-Adjusted Recommendations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1133856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The risk_tolerance parameter and stability penalty in the fitness function ensure pricing changes are never too radical or damaging.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81728" y="2121408"/>
            <a:ext cx="4160520" cy="1234440"/>
          </a:xfrm>
          <a:prstGeom prst="rect">
            <a:avLst/>
          </a:prstGeom>
          <a:solidFill>
            <a:srgbClr val="132438"/>
          </a:solidFill>
          <a:ln w="9525">
            <a:solidFill>
              <a:srgbClr val="00808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91456" y="22311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367528" y="221284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Profit Maximization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67528" y="2505456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GA evolves strategies targeting the best balance of 50% profit weight + 30% margin weight + 20% satisfaction weight.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121408"/>
            <a:ext cx="4160520" cy="1234440"/>
          </a:xfrm>
          <a:prstGeom prst="rect">
            <a:avLst/>
          </a:prstGeom>
          <a:solidFill>
            <a:srgbClr val="132438"/>
          </a:solidFill>
          <a:ln w="9525">
            <a:solidFill>
              <a:srgbClr val="00808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5488" y="22311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❤️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51560" y="221284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Customer Satisfaction Preserved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51560" y="2505456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Satisfaction is built into the fitness function and fuzzy rules — system never ignores customer experience for short-term profit.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81728" y="2121408"/>
            <a:ext cx="4160520" cy="1234440"/>
          </a:xfrm>
          <a:prstGeom prst="rect">
            <a:avLst/>
          </a:prstGeom>
          <a:solidFill>
            <a:srgbClr val="132438"/>
          </a:solidFill>
          <a:ln w="9525">
            <a:solidFill>
              <a:srgbClr val="00808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91456" y="22311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367528" y="221284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AI Chatbot Explainability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67528" y="2505456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GPT-powered chatbot explains WHY the system recommends a particular price, making it understandable to non-technical sellers.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4626864"/>
            <a:ext cx="8366760" cy="347472"/>
          </a:xfrm>
          <a:prstGeom prst="rect">
            <a:avLst/>
          </a:prstGeom>
          <a:solidFill>
            <a:srgbClr val="003322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626864"/>
            <a:ext cx="8366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C653"/>
                </a:solidFill>
              </a:rPr>
              <a:t>Who benefits: 🥬 Vegetable sellers  |  👗 Clothing shops  |  🎨 Handmade goods  |  🍲 Food stalls  |  📱 Electronics resellers  |  Any local micro-business!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8080">
              <a:alpha val="20000"/>
            </a:srgbClr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09  |  Conclusion &amp; Future Enhancements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834640" cy="566928"/>
          </a:xfrm>
          <a:prstGeom prst="rect">
            <a:avLst/>
          </a:prstGeom>
          <a:solidFill>
            <a:srgbClr val="132438"/>
          </a:solidFill>
          <a:ln w="9525">
            <a:solidFill>
              <a:srgbClr val="00808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9768" y="1280160"/>
            <a:ext cx="256032" cy="256032"/>
          </a:xfrm>
          <a:prstGeom prst="ellipse">
            <a:avLst/>
          </a:prstGeom>
          <a:solidFill>
            <a:srgbClr val="008080"/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280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✓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9808" y="1170432"/>
            <a:ext cx="23042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8080"/>
                </a:solidFill>
              </a:rPr>
              <a:t>Fuzzy Logic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49808" y="1426464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Handles uncertainty via Mamdani FIS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46120" y="1143000"/>
            <a:ext cx="2834640" cy="566928"/>
          </a:xfrm>
          <a:prstGeom prst="rect">
            <a:avLst/>
          </a:prstGeom>
          <a:solidFill>
            <a:srgbClr val="132438"/>
          </a:solidFill>
          <a:ln w="9525">
            <a:solidFill>
              <a:srgbClr val="2DC653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55848" y="1280160"/>
            <a:ext cx="256032" cy="256032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1280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75888" y="1170432"/>
            <a:ext cx="23042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C653"/>
                </a:solidFill>
              </a:rPr>
              <a:t>Genetic Algorithm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75888" y="1426464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Optimizes 8 parameters over 100 generations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72200" y="1143000"/>
            <a:ext cx="2834640" cy="566928"/>
          </a:xfrm>
          <a:prstGeom prst="rect">
            <a:avLst/>
          </a:prstGeom>
          <a:solidFill>
            <a:srgbClr val="132438"/>
          </a:solidFill>
          <a:ln w="9525">
            <a:solidFill>
              <a:srgbClr val="F6AD55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81928" y="1280160"/>
            <a:ext cx="256032" cy="256032"/>
          </a:xfrm>
          <a:prstGeom prst="ellipse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81928" y="1280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✓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601968" y="1170432"/>
            <a:ext cx="23042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6AD55"/>
                </a:solidFill>
              </a:rPr>
              <a:t>Machine Learning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601968" y="1426464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Gradient Boosting forecasts demand accurately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0040" y="1801368"/>
            <a:ext cx="2834640" cy="566928"/>
          </a:xfrm>
          <a:prstGeom prst="rect">
            <a:avLst/>
          </a:prstGeom>
          <a:solidFill>
            <a:srgbClr val="132438"/>
          </a:solidFill>
          <a:ln w="9525">
            <a:solidFill>
              <a:srgbClr val="02C39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9768" y="1938528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" y="19385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✓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49808" y="1828800"/>
            <a:ext cx="23042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C39A"/>
                </a:solidFill>
              </a:rPr>
              <a:t>18+ Fuzzy Rules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49808" y="2084832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Cover all market scenarios end-to-end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46120" y="1801368"/>
            <a:ext cx="2834640" cy="566928"/>
          </a:xfrm>
          <a:prstGeom prst="rect">
            <a:avLst/>
          </a:prstGeom>
          <a:solidFill>
            <a:srgbClr val="132438"/>
          </a:solidFill>
          <a:ln w="9525">
            <a:solidFill>
              <a:srgbClr val="0891B2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55848" y="1938528"/>
            <a:ext cx="256032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55848" y="19385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✓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75888" y="1828800"/>
            <a:ext cx="23042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91B2"/>
                </a:solidFill>
              </a:rPr>
              <a:t>Zero Cost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75888" y="2084832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Free tool vs expensive enterprise software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172200" y="1801368"/>
            <a:ext cx="2834640" cy="566928"/>
          </a:xfrm>
          <a:prstGeom prst="rect">
            <a:avLst/>
          </a:prstGeom>
          <a:solidFill>
            <a:srgbClr val="132438"/>
          </a:solidFill>
          <a:ln w="9525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81928" y="1938528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81928" y="19385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✓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601968" y="1828800"/>
            <a:ext cx="23042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</a:rPr>
              <a:t>Explainable AI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601968" y="2084832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AI chatbot explains every recommendation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20040" y="2587752"/>
            <a:ext cx="8503920" cy="292608"/>
          </a:xfrm>
          <a:prstGeom prst="rect">
            <a:avLst/>
          </a:prstGeom>
          <a:solidFill>
            <a:srgbClr val="008080">
              <a:alpha val="20000"/>
            </a:srgbClr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258775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</a:rPr>
              <a:t>🔮 Future Enhancements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20040" y="2944368"/>
            <a:ext cx="4160520" cy="530352"/>
          </a:xfrm>
          <a:prstGeom prst="rect">
            <a:avLst/>
          </a:prstGeom>
          <a:solidFill>
            <a:srgbClr val="132438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299008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C39A"/>
                </a:solidFill>
              </a:rPr>
              <a:t>🌐 Real-time Market Data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38912" y="32186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Live API integration for competitor prices, demand signals, and economic indicators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636008" y="2944368"/>
            <a:ext cx="4160520" cy="530352"/>
          </a:xfrm>
          <a:prstGeom prst="rect">
            <a:avLst/>
          </a:prstGeom>
          <a:solidFill>
            <a:srgbClr val="132438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299008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C39A"/>
                </a:solidFill>
              </a:rPr>
              <a:t>📊 Pareto Multi-Objective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754880" y="32186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Replace single fitness with Pareto front optimization for multiple competing goals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20040" y="3538728"/>
            <a:ext cx="4160520" cy="530352"/>
          </a:xfrm>
          <a:prstGeom prst="rect">
            <a:avLst/>
          </a:prstGeom>
          <a:solidFill>
            <a:srgbClr val="132438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8912" y="358444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C39A"/>
                </a:solidFill>
              </a:rPr>
              <a:t>🤖 Deep Learning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38912" y="38130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LSTM/Transformer for longer-range demand forecasting with time-series data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636008" y="3538728"/>
            <a:ext cx="4160520" cy="530352"/>
          </a:xfrm>
          <a:prstGeom prst="rect">
            <a:avLst/>
          </a:prstGeom>
          <a:solidFill>
            <a:srgbClr val="132438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0" y="358444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C39A"/>
                </a:solidFill>
              </a:rPr>
              <a:t>📱 Mobile App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754880" y="38130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Android/iOS app for on-the-go pricing decisions by market vendors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20040" y="4133088"/>
            <a:ext cx="4160520" cy="530352"/>
          </a:xfrm>
          <a:prstGeom prst="rect">
            <a:avLst/>
          </a:prstGeom>
          <a:solidFill>
            <a:srgbClr val="132438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8912" y="417880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C39A"/>
                </a:solidFill>
              </a:rPr>
              <a:t>🏘️ Cluster-Based Rules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38912" y="440740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Geographic clustering to adapt rules for regional market conditions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636008" y="4133088"/>
            <a:ext cx="4160520" cy="530352"/>
          </a:xfrm>
          <a:prstGeom prst="rect">
            <a:avLst/>
          </a:prstGeom>
          <a:solidFill>
            <a:srgbClr val="132438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54880" y="417880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C39A"/>
                </a:solidFill>
              </a:rPr>
              <a:t>🔄 Reinforcement Learning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754880" y="440740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Agent learns optimal pricing policy from live market feedback loops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</a:rPr>
              <a:t>FuzzyPriceAI — Democratizing Intelligent Pricing for Every Micro-Business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008080">
              <a:alpha val="10000"/>
            </a:srgbClr>
          </a:solidFill>
          <a:ln w="12700">
            <a:solidFill>
              <a:srgbClr val="008080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457200"/>
            <a:ext cx="5029200" cy="5029200"/>
          </a:xfrm>
          <a:prstGeom prst="ellipse">
            <a:avLst/>
          </a:prstGeom>
          <a:solidFill>
            <a:srgbClr val="02C39A">
              <a:alpha val="8000"/>
            </a:srgbClr>
          </a:solidFill>
          <a:ln w="12700">
            <a:solidFill>
              <a:srgbClr val="02C39A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080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399032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11480" y="235458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F5F3"/>
                </a:solidFill>
              </a:rPr>
              <a:t>FuzzyPriceAI — Fuzzy-Genetic Micro-Business Pricing Optimizer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0" y="2903220"/>
            <a:ext cx="4572000" cy="36576"/>
          </a:xfrm>
          <a:prstGeom prst="rect">
            <a:avLst/>
          </a:prstGeom>
          <a:solidFill>
            <a:srgbClr val="008080"/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83464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188720" y="3474720"/>
            <a:ext cx="2240280" cy="1143000"/>
          </a:xfrm>
          <a:prstGeom prst="rect">
            <a:avLst/>
          </a:prstGeom>
          <a:solidFill>
            <a:srgbClr val="132438"/>
          </a:solidFill>
          <a:ln w="9525">
            <a:solidFill>
              <a:srgbClr val="0080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3520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88720" y="39776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C39A"/>
                </a:solidFill>
              </a:rPr>
              <a:t>Fuzzy Logic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188720" y="420624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Mamdani + 18 Rules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703320" y="3474720"/>
            <a:ext cx="2240280" cy="1143000"/>
          </a:xfrm>
          <a:prstGeom prst="rect">
            <a:avLst/>
          </a:prstGeom>
          <a:solidFill>
            <a:srgbClr val="132438"/>
          </a:solidFill>
          <a:ln w="9525">
            <a:solidFill>
              <a:srgbClr val="0080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3520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🧬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703320" y="39776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C39A"/>
                </a:solidFill>
              </a:rPr>
              <a:t>Genetic Algorithm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703320" y="420624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8 params, 100 gen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217920" y="3474720"/>
            <a:ext cx="2240280" cy="1143000"/>
          </a:xfrm>
          <a:prstGeom prst="rect">
            <a:avLst/>
          </a:prstGeom>
          <a:solidFill>
            <a:srgbClr val="132438"/>
          </a:solidFill>
          <a:ln w="9525">
            <a:solidFill>
              <a:srgbClr val="0080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3520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217920" y="39776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C39A"/>
                </a:solidFill>
              </a:rPr>
              <a:t>Machine Learning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217920" y="420624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Gradient Boosting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480060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Soft Computing Course Project 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2514</Words>
  <Application>Microsoft Office PowerPoint</Application>
  <PresentationFormat>On-screen Show (16:9)</PresentationFormat>
  <Paragraphs>557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Arial Rounded MT Bold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FuzzyPriceAI - Fuzzy-Genetic Micro-Business Pricing Optimizer</dc:title>
  <dc:subject>PptxGenJS Presentation</dc:subject>
  <dc:creator>PptxGenJS</dc:creator>
  <cp:lastModifiedBy>Varshini Parthiban</cp:lastModifiedBy>
  <cp:revision>5</cp:revision>
  <dcterms:created xsi:type="dcterms:W3CDTF">2026-04-10T04:42:39Z</dcterms:created>
  <dcterms:modified xsi:type="dcterms:W3CDTF">2026-04-13T07:08:46Z</dcterms:modified>
</cp:coreProperties>
</file>